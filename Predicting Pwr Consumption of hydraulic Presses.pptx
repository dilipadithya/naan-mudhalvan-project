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elegraf Bold" charset="1" panose="00000800000000000000"/>
      <p:regular r:id="rId17"/>
    </p:embeddedFont>
    <p:embeddedFont>
      <p:font typeface="Poppins" charset="1" panose="00000500000000000000"/>
      <p:regular r:id="rId18"/>
    </p:embeddedFont>
    <p:embeddedFont>
      <p:font typeface="Poppins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106429" y="1624413"/>
            <a:ext cx="12779201" cy="4644084"/>
          </a:xfrm>
          <a:prstGeom prst="rect">
            <a:avLst/>
          </a:prstGeom>
        </p:spPr>
        <p:txBody>
          <a:bodyPr anchor="t" rtlCol="false" tIns="0" lIns="0" bIns="0" rIns="0">
            <a:spAutoFit/>
          </a:bodyPr>
          <a:lstStyle/>
          <a:p>
            <a:pPr algn="ctr">
              <a:lnSpc>
                <a:spcPts val="12176"/>
              </a:lnSpc>
              <a:spcBef>
                <a:spcPct val="0"/>
              </a:spcBef>
            </a:pPr>
            <a:r>
              <a:rPr lang="en-US" b="true" sz="8697" spc="-391">
                <a:solidFill>
                  <a:srgbClr val="FFFFFF"/>
                </a:solidFill>
                <a:latin typeface="Telegraf Bold"/>
                <a:ea typeface="Telegraf Bold"/>
                <a:cs typeface="Telegraf Bold"/>
                <a:sym typeface="Telegraf Bold"/>
              </a:rPr>
              <a:t>⁠Predicting Power Consumption of Hydraulic Presses </a:t>
            </a:r>
          </a:p>
        </p:txBody>
      </p:sp>
      <p:sp>
        <p:nvSpPr>
          <p:cNvPr name="TextBox 7" id="7"/>
          <p:cNvSpPr txBox="true"/>
          <p:nvPr/>
        </p:nvSpPr>
        <p:spPr>
          <a:xfrm rot="0">
            <a:off x="12511960" y="7046259"/>
            <a:ext cx="4747340" cy="2204151"/>
          </a:xfrm>
          <a:prstGeom prst="rect">
            <a:avLst/>
          </a:prstGeom>
        </p:spPr>
        <p:txBody>
          <a:bodyPr anchor="t" rtlCol="false" tIns="0" lIns="0" bIns="0" rIns="0">
            <a:spAutoFit/>
          </a:bodyPr>
          <a:lstStyle/>
          <a:p>
            <a:pPr algn="r">
              <a:lnSpc>
                <a:spcPts val="3461"/>
              </a:lnSpc>
            </a:pPr>
            <a:r>
              <a:rPr lang="en-US" sz="2472">
                <a:solidFill>
                  <a:srgbClr val="FFFFFF"/>
                </a:solidFill>
                <a:latin typeface="Poppins"/>
                <a:ea typeface="Poppins"/>
                <a:cs typeface="Poppins"/>
                <a:sym typeface="Poppins"/>
              </a:rPr>
              <a:t>Nishanthi - 2023108049</a:t>
            </a:r>
          </a:p>
          <a:p>
            <a:pPr algn="r">
              <a:lnSpc>
                <a:spcPts val="3461"/>
              </a:lnSpc>
            </a:pPr>
            <a:r>
              <a:rPr lang="en-US" sz="2472">
                <a:solidFill>
                  <a:srgbClr val="FFFFFF"/>
                </a:solidFill>
                <a:latin typeface="Poppins"/>
                <a:ea typeface="Poppins"/>
                <a:cs typeface="Poppins"/>
                <a:sym typeface="Poppins"/>
              </a:rPr>
              <a:t>Mathesh - 2023108050</a:t>
            </a:r>
          </a:p>
          <a:p>
            <a:pPr algn="r">
              <a:lnSpc>
                <a:spcPts val="3461"/>
              </a:lnSpc>
            </a:pPr>
            <a:r>
              <a:rPr lang="en-US" sz="2472">
                <a:solidFill>
                  <a:srgbClr val="FFFFFF"/>
                </a:solidFill>
                <a:latin typeface="Poppins"/>
                <a:ea typeface="Poppins"/>
                <a:cs typeface="Poppins"/>
                <a:sym typeface="Poppins"/>
              </a:rPr>
              <a:t>Surya Kiran - 2023108051</a:t>
            </a:r>
          </a:p>
          <a:p>
            <a:pPr algn="r">
              <a:lnSpc>
                <a:spcPts val="3461"/>
              </a:lnSpc>
            </a:pPr>
            <a:r>
              <a:rPr lang="en-US" sz="2472">
                <a:solidFill>
                  <a:srgbClr val="FFFFFF"/>
                </a:solidFill>
                <a:latin typeface="Poppins"/>
                <a:ea typeface="Poppins"/>
                <a:cs typeface="Poppins"/>
                <a:sym typeface="Poppins"/>
              </a:rPr>
              <a:t>Samyuktha - 2023108052</a:t>
            </a:r>
          </a:p>
          <a:p>
            <a:pPr algn="r">
              <a:lnSpc>
                <a:spcPts val="3461"/>
              </a:lnSpc>
            </a:pPr>
            <a:r>
              <a:rPr lang="en-US" sz="2472">
                <a:solidFill>
                  <a:srgbClr val="FFFFFF"/>
                </a:solidFill>
                <a:latin typeface="Poppins"/>
                <a:ea typeface="Poppins"/>
                <a:cs typeface="Poppins"/>
                <a:sym typeface="Poppins"/>
              </a:rPr>
              <a:t>Dilip Adhitya - 2023108053</a:t>
            </a:r>
          </a:p>
        </p:txBody>
      </p:sp>
      <p:sp>
        <p:nvSpPr>
          <p:cNvPr name="TextBox 8" id="8"/>
          <p:cNvSpPr txBox="true"/>
          <p:nvPr/>
        </p:nvSpPr>
        <p:spPr>
          <a:xfrm rot="0">
            <a:off x="8496029" y="9002119"/>
            <a:ext cx="1274721"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a:t>
            </a:r>
          </a:p>
        </p:txBody>
      </p:sp>
      <p:sp>
        <p:nvSpPr>
          <p:cNvPr name="TextBox 9" id="9"/>
          <p:cNvSpPr txBox="true"/>
          <p:nvPr/>
        </p:nvSpPr>
        <p:spPr>
          <a:xfrm rot="0">
            <a:off x="6759720" y="6089084"/>
            <a:ext cx="4747340"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Naan Mudhalvan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2057400"/>
            <a:ext cx="11331069" cy="7499107"/>
            <a:chOff x="0" y="0"/>
            <a:chExt cx="2984315" cy="1975074"/>
          </a:xfrm>
        </p:grpSpPr>
        <p:sp>
          <p:nvSpPr>
            <p:cNvPr name="Freeform 4" id="4"/>
            <p:cNvSpPr/>
            <p:nvPr/>
          </p:nvSpPr>
          <p:spPr>
            <a:xfrm flipH="false" flipV="false" rot="0">
              <a:off x="0" y="0"/>
              <a:ext cx="2984315" cy="1975074"/>
            </a:xfrm>
            <a:custGeom>
              <a:avLst/>
              <a:gdLst/>
              <a:ahLst/>
              <a:cxnLst/>
              <a:rect r="r" b="b" t="t" l="l"/>
              <a:pathLst>
                <a:path h="1975074" w="2984315">
                  <a:moveTo>
                    <a:pt x="38262" y="0"/>
                  </a:moveTo>
                  <a:lnTo>
                    <a:pt x="2946053" y="0"/>
                  </a:lnTo>
                  <a:cubicBezTo>
                    <a:pt x="2956200" y="0"/>
                    <a:pt x="2965933" y="4031"/>
                    <a:pt x="2973108" y="11207"/>
                  </a:cubicBezTo>
                  <a:cubicBezTo>
                    <a:pt x="2980283" y="18382"/>
                    <a:pt x="2984315" y="28114"/>
                    <a:pt x="2984315" y="38262"/>
                  </a:cubicBezTo>
                  <a:lnTo>
                    <a:pt x="2984315" y="1936812"/>
                  </a:lnTo>
                  <a:cubicBezTo>
                    <a:pt x="2984315" y="1957943"/>
                    <a:pt x="2967184" y="1975074"/>
                    <a:pt x="2946053" y="1975074"/>
                  </a:cubicBezTo>
                  <a:lnTo>
                    <a:pt x="38262" y="1975074"/>
                  </a:lnTo>
                  <a:cubicBezTo>
                    <a:pt x="28114" y="1975074"/>
                    <a:pt x="18382" y="1971042"/>
                    <a:pt x="11207" y="1963867"/>
                  </a:cubicBezTo>
                  <a:cubicBezTo>
                    <a:pt x="4031" y="1956691"/>
                    <a:pt x="0" y="1946959"/>
                    <a:pt x="0" y="1936812"/>
                  </a:cubicBezTo>
                  <a:lnTo>
                    <a:pt x="0" y="38262"/>
                  </a:lnTo>
                  <a:cubicBezTo>
                    <a:pt x="0" y="28114"/>
                    <a:pt x="4031" y="18382"/>
                    <a:pt x="11207" y="11207"/>
                  </a:cubicBezTo>
                  <a:cubicBezTo>
                    <a:pt x="18382" y="4031"/>
                    <a:pt x="28114" y="0"/>
                    <a:pt x="38262"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2984315" cy="204174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2702196" y="6825024"/>
            <a:ext cx="4797767" cy="2731483"/>
            <a:chOff x="0" y="0"/>
            <a:chExt cx="1263610" cy="719403"/>
          </a:xfrm>
        </p:grpSpPr>
        <p:sp>
          <p:nvSpPr>
            <p:cNvPr name="Freeform 7" id="7"/>
            <p:cNvSpPr/>
            <p:nvPr/>
          </p:nvSpPr>
          <p:spPr>
            <a:xfrm flipH="false" flipV="false" rot="0">
              <a:off x="0" y="0"/>
              <a:ext cx="1263609" cy="719403"/>
            </a:xfrm>
            <a:custGeom>
              <a:avLst/>
              <a:gdLst/>
              <a:ahLst/>
              <a:cxnLst/>
              <a:rect r="r" b="b" t="t" l="l"/>
              <a:pathLst>
                <a:path h="719403" w="1263609">
                  <a:moveTo>
                    <a:pt x="90364" y="0"/>
                  </a:moveTo>
                  <a:lnTo>
                    <a:pt x="1173245" y="0"/>
                  </a:lnTo>
                  <a:cubicBezTo>
                    <a:pt x="1223152" y="0"/>
                    <a:pt x="1263609" y="40458"/>
                    <a:pt x="1263609" y="90364"/>
                  </a:cubicBezTo>
                  <a:lnTo>
                    <a:pt x="1263609" y="629039"/>
                  </a:lnTo>
                  <a:cubicBezTo>
                    <a:pt x="1263609" y="653005"/>
                    <a:pt x="1254089" y="675989"/>
                    <a:pt x="1237142" y="692936"/>
                  </a:cubicBezTo>
                  <a:cubicBezTo>
                    <a:pt x="1220196" y="709883"/>
                    <a:pt x="1197211" y="719403"/>
                    <a:pt x="1173245" y="719403"/>
                  </a:cubicBezTo>
                  <a:lnTo>
                    <a:pt x="90364" y="719403"/>
                  </a:lnTo>
                  <a:cubicBezTo>
                    <a:pt x="40458" y="719403"/>
                    <a:pt x="0" y="678946"/>
                    <a:pt x="0" y="629039"/>
                  </a:cubicBezTo>
                  <a:lnTo>
                    <a:pt x="0" y="90364"/>
                  </a:lnTo>
                  <a:cubicBezTo>
                    <a:pt x="0" y="40458"/>
                    <a:pt x="40458" y="0"/>
                    <a:pt x="90364"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8" id="8"/>
            <p:cNvSpPr txBox="true"/>
            <p:nvPr/>
          </p:nvSpPr>
          <p:spPr>
            <a:xfrm>
              <a:off x="0" y="-66675"/>
              <a:ext cx="1263610" cy="786078"/>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12702196" y="2057400"/>
            <a:ext cx="4797767" cy="4166571"/>
            <a:chOff x="0" y="0"/>
            <a:chExt cx="743300" cy="645511"/>
          </a:xfrm>
        </p:grpSpPr>
        <p:sp>
          <p:nvSpPr>
            <p:cNvPr name="Freeform 10" id="10"/>
            <p:cNvSpPr/>
            <p:nvPr/>
          </p:nvSpPr>
          <p:spPr>
            <a:xfrm flipH="false" flipV="false" rot="0">
              <a:off x="0" y="0"/>
              <a:ext cx="743300" cy="645511"/>
            </a:xfrm>
            <a:custGeom>
              <a:avLst/>
              <a:gdLst/>
              <a:ahLst/>
              <a:cxnLst/>
              <a:rect r="r" b="b" t="t" l="l"/>
              <a:pathLst>
                <a:path h="645511" w="743300">
                  <a:moveTo>
                    <a:pt x="90364" y="0"/>
                  </a:moveTo>
                  <a:lnTo>
                    <a:pt x="652935" y="0"/>
                  </a:lnTo>
                  <a:cubicBezTo>
                    <a:pt x="702842" y="0"/>
                    <a:pt x="743300" y="40458"/>
                    <a:pt x="743300" y="90364"/>
                  </a:cubicBezTo>
                  <a:lnTo>
                    <a:pt x="743300" y="555146"/>
                  </a:lnTo>
                  <a:cubicBezTo>
                    <a:pt x="743300" y="605053"/>
                    <a:pt x="702842" y="645511"/>
                    <a:pt x="652935" y="645511"/>
                  </a:cubicBezTo>
                  <a:lnTo>
                    <a:pt x="90364" y="645511"/>
                  </a:lnTo>
                  <a:cubicBezTo>
                    <a:pt x="66398" y="645511"/>
                    <a:pt x="43414" y="635990"/>
                    <a:pt x="26467" y="619044"/>
                  </a:cubicBezTo>
                  <a:cubicBezTo>
                    <a:pt x="9521" y="602097"/>
                    <a:pt x="0" y="579113"/>
                    <a:pt x="0" y="555146"/>
                  </a:cubicBezTo>
                  <a:lnTo>
                    <a:pt x="0" y="90364"/>
                  </a:lnTo>
                  <a:cubicBezTo>
                    <a:pt x="0" y="40458"/>
                    <a:pt x="40458" y="0"/>
                    <a:pt x="90364" y="0"/>
                  </a:cubicBezTo>
                  <a:close/>
                </a:path>
              </a:pathLst>
            </a:custGeom>
            <a:blipFill>
              <a:blip r:embed="rId4"/>
              <a:stretch>
                <a:fillRect l="-21327" t="0" r="-21327" b="-9442"/>
              </a:stretch>
            </a:blipFill>
          </p:spPr>
        </p:sp>
      </p:grpSp>
      <p:sp>
        <p:nvSpPr>
          <p:cNvPr name="TextBox 11" id="11"/>
          <p:cNvSpPr txBox="true"/>
          <p:nvPr/>
        </p:nvSpPr>
        <p:spPr>
          <a:xfrm rot="0">
            <a:off x="1726346" y="5478037"/>
            <a:ext cx="10144571" cy="21939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Poppins"/>
                <a:ea typeface="Poppins"/>
                <a:cs typeface="Poppins"/>
                <a:sym typeface="Poppins"/>
              </a:rPr>
              <a:t>The task is to Estimate power usage per operation cycle.</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We aim to Predict using material thickness, pressure, tooling type and other operational data.</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The dataset for this project contains more than 500 records.</a:t>
            </a:r>
          </a:p>
          <a:p>
            <a:pPr algn="just">
              <a:lnSpc>
                <a:spcPts val="3499"/>
              </a:lnSpc>
            </a:pPr>
          </a:p>
        </p:txBody>
      </p:sp>
      <p:sp>
        <p:nvSpPr>
          <p:cNvPr name="TextBox 12" id="12"/>
          <p:cNvSpPr txBox="true"/>
          <p:nvPr/>
        </p:nvSpPr>
        <p:spPr>
          <a:xfrm rot="0">
            <a:off x="1726346" y="2974397"/>
            <a:ext cx="7719401" cy="2169103"/>
          </a:xfrm>
          <a:prstGeom prst="rect">
            <a:avLst/>
          </a:prstGeom>
        </p:spPr>
        <p:txBody>
          <a:bodyPr anchor="t" rtlCol="false" tIns="0" lIns="0" bIns="0" rIns="0">
            <a:spAutoFit/>
          </a:bodyPr>
          <a:lstStyle/>
          <a:p>
            <a:pPr algn="l">
              <a:lnSpc>
                <a:spcPts val="8077"/>
              </a:lnSpc>
            </a:pPr>
            <a:r>
              <a:rPr lang="en-US" sz="7919" spc="-356" b="true">
                <a:solidFill>
                  <a:srgbClr val="FFFFFF"/>
                </a:solidFill>
                <a:latin typeface="Telegraf Bold"/>
                <a:ea typeface="Telegraf Bold"/>
                <a:cs typeface="Telegraf Bold"/>
                <a:sym typeface="Telegraf Bold"/>
              </a:rPr>
              <a:t>Problem Statement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16233478" cy="5849788"/>
            <a:chOff x="0" y="0"/>
            <a:chExt cx="4275484" cy="1540685"/>
          </a:xfrm>
        </p:grpSpPr>
        <p:sp>
          <p:nvSpPr>
            <p:cNvPr name="Freeform 4" id="4"/>
            <p:cNvSpPr/>
            <p:nvPr/>
          </p:nvSpPr>
          <p:spPr>
            <a:xfrm flipH="false" flipV="false" rot="0">
              <a:off x="0" y="0"/>
              <a:ext cx="4275484" cy="1540685"/>
            </a:xfrm>
            <a:custGeom>
              <a:avLst/>
              <a:gdLst/>
              <a:ahLst/>
              <a:cxnLst/>
              <a:rect r="r" b="b" t="t" l="l"/>
              <a:pathLst>
                <a:path h="1540685" w="4275484">
                  <a:moveTo>
                    <a:pt x="26707" y="0"/>
                  </a:moveTo>
                  <a:lnTo>
                    <a:pt x="4248777" y="0"/>
                  </a:lnTo>
                  <a:cubicBezTo>
                    <a:pt x="4263527" y="0"/>
                    <a:pt x="4275484" y="11957"/>
                    <a:pt x="4275484" y="26707"/>
                  </a:cubicBezTo>
                  <a:lnTo>
                    <a:pt x="4275484" y="1513978"/>
                  </a:lnTo>
                  <a:cubicBezTo>
                    <a:pt x="4275484" y="1521061"/>
                    <a:pt x="4272670" y="1527854"/>
                    <a:pt x="4267662" y="1532863"/>
                  </a:cubicBezTo>
                  <a:cubicBezTo>
                    <a:pt x="4262653" y="1537871"/>
                    <a:pt x="4255860" y="1540685"/>
                    <a:pt x="4248777" y="1540685"/>
                  </a:cubicBezTo>
                  <a:lnTo>
                    <a:pt x="26707" y="1540685"/>
                  </a:lnTo>
                  <a:cubicBezTo>
                    <a:pt x="11957" y="1540685"/>
                    <a:pt x="0" y="1528728"/>
                    <a:pt x="0" y="1513978"/>
                  </a:cubicBezTo>
                  <a:lnTo>
                    <a:pt x="0" y="26707"/>
                  </a:lnTo>
                  <a:cubicBezTo>
                    <a:pt x="0" y="19624"/>
                    <a:pt x="2814" y="12831"/>
                    <a:pt x="7822" y="7822"/>
                  </a:cubicBezTo>
                  <a:cubicBezTo>
                    <a:pt x="12831" y="2814"/>
                    <a:pt x="19624" y="0"/>
                    <a:pt x="26707"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4275484" cy="1607360"/>
            </a:xfrm>
            <a:prstGeom prst="rect">
              <a:avLst/>
            </a:prstGeom>
          </p:spPr>
          <p:txBody>
            <a:bodyPr anchor="ctr" rtlCol="false" tIns="50800" lIns="50800" bIns="50800" rIns="50800"/>
            <a:lstStyle/>
            <a:p>
              <a:pPr algn="ctr">
                <a:lnSpc>
                  <a:spcPts val="3151"/>
                </a:lnSpc>
              </a:pPr>
            </a:p>
          </p:txBody>
        </p:sp>
      </p:grpSp>
      <p:sp>
        <p:nvSpPr>
          <p:cNvPr name="TextBox 6" id="6"/>
          <p:cNvSpPr txBox="true"/>
          <p:nvPr/>
        </p:nvSpPr>
        <p:spPr>
          <a:xfrm rot="0">
            <a:off x="2849084" y="4600545"/>
            <a:ext cx="12586955" cy="1143061"/>
          </a:xfrm>
          <a:prstGeom prst="rect">
            <a:avLst/>
          </a:prstGeom>
        </p:spPr>
        <p:txBody>
          <a:bodyPr anchor="t" rtlCol="false" tIns="0" lIns="0" bIns="0" rIns="0">
            <a:spAutoFit/>
          </a:bodyPr>
          <a:lstStyle/>
          <a:p>
            <a:pPr algn="ctr">
              <a:lnSpc>
                <a:spcPts val="8077"/>
              </a:lnSpc>
            </a:pPr>
            <a:r>
              <a:rPr lang="en-US" b="true" sz="7919" spc="-356">
                <a:solidFill>
                  <a:srgbClr val="FFFFFF"/>
                </a:solidFill>
                <a:latin typeface="Telegraf Bold"/>
                <a:ea typeface="Telegraf Bold"/>
                <a:cs typeface="Telegraf Bold"/>
                <a:sym typeface="Telegraf Bold"/>
              </a:rPr>
              <a:t>Charts from Data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7280449" y="1253414"/>
            <a:ext cx="10493114" cy="7539497"/>
          </a:xfrm>
          <a:custGeom>
            <a:avLst/>
            <a:gdLst/>
            <a:ahLst/>
            <a:cxnLst/>
            <a:rect r="r" b="b" t="t" l="l"/>
            <a:pathLst>
              <a:path h="7539497" w="10493114">
                <a:moveTo>
                  <a:pt x="0" y="0"/>
                </a:moveTo>
                <a:lnTo>
                  <a:pt x="10493114" y="0"/>
                </a:lnTo>
                <a:lnTo>
                  <a:pt x="10493114" y="7539497"/>
                </a:lnTo>
                <a:lnTo>
                  <a:pt x="0" y="7539497"/>
                </a:lnTo>
                <a:lnTo>
                  <a:pt x="0" y="0"/>
                </a:lnTo>
                <a:close/>
              </a:path>
            </a:pathLst>
          </a:custGeom>
          <a:blipFill>
            <a:blip r:embed="rId4"/>
            <a:stretch>
              <a:fillRect l="0" t="0" r="0" b="0"/>
            </a:stretch>
          </a:blipFill>
        </p:spPr>
      </p:sp>
      <p:sp>
        <p:nvSpPr>
          <p:cNvPr name="TextBox 7" id="7"/>
          <p:cNvSpPr txBox="true"/>
          <p:nvPr/>
        </p:nvSpPr>
        <p:spPr>
          <a:xfrm rot="0">
            <a:off x="1442706" y="3441700"/>
            <a:ext cx="4604866" cy="3289301"/>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Heatmap:</a:t>
            </a:r>
            <a:r>
              <a:rPr lang="en-US" sz="3999" b="true">
                <a:solidFill>
                  <a:srgbClr val="FFFFFF"/>
                </a:solidFill>
                <a:latin typeface="Poppins Bold"/>
                <a:ea typeface="Poppins Bold"/>
                <a:cs typeface="Poppins Bold"/>
                <a:sym typeface="Poppins Bold"/>
              </a:rPr>
              <a:t> Correlation between numeric features</a:t>
            </a:r>
          </a:p>
          <a:p>
            <a:pPr algn="just">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7403864" y="1480036"/>
            <a:ext cx="9855436" cy="7326928"/>
          </a:xfrm>
          <a:custGeom>
            <a:avLst/>
            <a:gdLst/>
            <a:ahLst/>
            <a:cxnLst/>
            <a:rect r="r" b="b" t="t" l="l"/>
            <a:pathLst>
              <a:path h="7326928" w="9855436">
                <a:moveTo>
                  <a:pt x="0" y="0"/>
                </a:moveTo>
                <a:lnTo>
                  <a:pt x="9855436" y="0"/>
                </a:lnTo>
                <a:lnTo>
                  <a:pt x="9855436" y="7326928"/>
                </a:lnTo>
                <a:lnTo>
                  <a:pt x="0" y="7326928"/>
                </a:lnTo>
                <a:lnTo>
                  <a:pt x="0" y="0"/>
                </a:lnTo>
                <a:close/>
              </a:path>
            </a:pathLst>
          </a:custGeom>
          <a:blipFill>
            <a:blip r:embed="rId4"/>
            <a:stretch>
              <a:fillRect l="0" t="0" r="0" b="0"/>
            </a:stretch>
          </a:blipFill>
        </p:spPr>
      </p:sp>
      <p:sp>
        <p:nvSpPr>
          <p:cNvPr name="TextBox 7" id="7"/>
          <p:cNvSpPr txBox="true"/>
          <p:nvPr/>
        </p:nvSpPr>
        <p:spPr>
          <a:xfrm rot="0">
            <a:off x="1442706" y="4022725"/>
            <a:ext cx="4604866" cy="2832100"/>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Scatterplot:</a:t>
            </a:r>
          </a:p>
          <a:p>
            <a:pPr algn="just">
              <a:lnSpc>
                <a:spcPts val="5599"/>
              </a:lnSpc>
            </a:pPr>
            <a:r>
              <a:rPr lang="en-US" sz="3999">
                <a:solidFill>
                  <a:srgbClr val="FFFFFF"/>
                </a:solidFill>
                <a:latin typeface="Poppins"/>
                <a:ea typeface="Poppins"/>
                <a:cs typeface="Poppins"/>
                <a:sym typeface="Poppins"/>
              </a:rPr>
              <a:t>Operation time vs</a:t>
            </a:r>
          </a:p>
          <a:p>
            <a:pPr algn="just">
              <a:lnSpc>
                <a:spcPts val="5599"/>
              </a:lnSpc>
            </a:pPr>
            <a:r>
              <a:rPr lang="en-US" sz="3999">
                <a:solidFill>
                  <a:srgbClr val="FFFFFF"/>
                </a:solidFill>
                <a:latin typeface="Poppins"/>
                <a:ea typeface="Poppins"/>
                <a:cs typeface="Poppins"/>
                <a:sym typeface="Poppins"/>
              </a:rPr>
              <a:t>power Consumption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4566658" cy="5445911"/>
            <a:chOff x="0" y="0"/>
            <a:chExt cx="1202741" cy="1434314"/>
          </a:xfrm>
        </p:grpSpPr>
        <p:sp>
          <p:nvSpPr>
            <p:cNvPr name="Freeform 4" id="4"/>
            <p:cNvSpPr/>
            <p:nvPr/>
          </p:nvSpPr>
          <p:spPr>
            <a:xfrm flipH="false" flipV="false" rot="0">
              <a:off x="0" y="0"/>
              <a:ext cx="1202741" cy="1434314"/>
            </a:xfrm>
            <a:custGeom>
              <a:avLst/>
              <a:gdLst/>
              <a:ahLst/>
              <a:cxnLst/>
              <a:rect r="r" b="b" t="t" l="l"/>
              <a:pathLst>
                <a:path h="1434314" w="1202741">
                  <a:moveTo>
                    <a:pt x="94938" y="0"/>
                  </a:moveTo>
                  <a:lnTo>
                    <a:pt x="1107804" y="0"/>
                  </a:lnTo>
                  <a:cubicBezTo>
                    <a:pt x="1160236" y="0"/>
                    <a:pt x="1202741" y="42505"/>
                    <a:pt x="1202741" y="94938"/>
                  </a:cubicBezTo>
                  <a:lnTo>
                    <a:pt x="1202741" y="1339376"/>
                  </a:lnTo>
                  <a:cubicBezTo>
                    <a:pt x="1202741" y="1391809"/>
                    <a:pt x="1160236" y="1434314"/>
                    <a:pt x="1107804" y="1434314"/>
                  </a:cubicBezTo>
                  <a:lnTo>
                    <a:pt x="94938" y="1434314"/>
                  </a:lnTo>
                  <a:cubicBezTo>
                    <a:pt x="42505" y="1434314"/>
                    <a:pt x="0" y="1391809"/>
                    <a:pt x="0" y="1339376"/>
                  </a:cubicBezTo>
                  <a:lnTo>
                    <a:pt x="0" y="94938"/>
                  </a:lnTo>
                  <a:cubicBezTo>
                    <a:pt x="0" y="42505"/>
                    <a:pt x="42505" y="0"/>
                    <a:pt x="94938"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202741" cy="1500989"/>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6047572" y="1028700"/>
            <a:ext cx="11850394" cy="7668771"/>
          </a:xfrm>
          <a:custGeom>
            <a:avLst/>
            <a:gdLst/>
            <a:ahLst/>
            <a:cxnLst/>
            <a:rect r="r" b="b" t="t" l="l"/>
            <a:pathLst>
              <a:path h="7668771" w="11850394">
                <a:moveTo>
                  <a:pt x="0" y="0"/>
                </a:moveTo>
                <a:lnTo>
                  <a:pt x="11850394" y="0"/>
                </a:lnTo>
                <a:lnTo>
                  <a:pt x="11850394" y="7668771"/>
                </a:lnTo>
                <a:lnTo>
                  <a:pt x="0" y="7668771"/>
                </a:lnTo>
                <a:lnTo>
                  <a:pt x="0" y="0"/>
                </a:lnTo>
                <a:close/>
              </a:path>
            </a:pathLst>
          </a:custGeom>
          <a:blipFill>
            <a:blip r:embed="rId4"/>
            <a:stretch>
              <a:fillRect l="0" t="0" r="0" b="0"/>
            </a:stretch>
          </a:blipFill>
        </p:spPr>
      </p:sp>
      <p:sp>
        <p:nvSpPr>
          <p:cNvPr name="TextBox 7" id="7"/>
          <p:cNvSpPr txBox="true"/>
          <p:nvPr/>
        </p:nvSpPr>
        <p:spPr>
          <a:xfrm rot="0">
            <a:off x="1442706" y="4022725"/>
            <a:ext cx="4604866" cy="2127250"/>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Barplot:</a:t>
            </a:r>
          </a:p>
          <a:p>
            <a:pPr algn="just">
              <a:lnSpc>
                <a:spcPts val="5599"/>
              </a:lnSpc>
            </a:pPr>
            <a:r>
              <a:rPr lang="en-US" sz="3999">
                <a:solidFill>
                  <a:srgbClr val="FFFFFF"/>
                </a:solidFill>
                <a:latin typeface="Poppins"/>
                <a:ea typeface="Poppins"/>
                <a:cs typeface="Poppins"/>
                <a:sym typeface="Poppins"/>
              </a:rPr>
              <a:t>Importance of </a:t>
            </a:r>
          </a:p>
          <a:p>
            <a:pPr algn="just">
              <a:lnSpc>
                <a:spcPts val="5599"/>
              </a:lnSpc>
            </a:pPr>
            <a:r>
              <a:rPr lang="en-US" sz="3999">
                <a:solidFill>
                  <a:srgbClr val="FFFFFF"/>
                </a:solidFill>
                <a:latin typeface="Poppins"/>
                <a:ea typeface="Poppins"/>
                <a:cs typeface="Poppins"/>
                <a:sym typeface="Poppins"/>
              </a:rPr>
              <a:t>components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894724"/>
            <a:ext cx="8123438" cy="6772678"/>
            <a:chOff x="0" y="0"/>
            <a:chExt cx="2139506" cy="1783751"/>
          </a:xfrm>
        </p:grpSpPr>
        <p:sp>
          <p:nvSpPr>
            <p:cNvPr name="Freeform 4" id="4"/>
            <p:cNvSpPr/>
            <p:nvPr/>
          </p:nvSpPr>
          <p:spPr>
            <a:xfrm flipH="false" flipV="false" rot="0">
              <a:off x="0" y="0"/>
              <a:ext cx="2139506" cy="1783751"/>
            </a:xfrm>
            <a:custGeom>
              <a:avLst/>
              <a:gdLst/>
              <a:ahLst/>
              <a:cxnLst/>
              <a:rect r="r" b="b" t="t" l="l"/>
              <a:pathLst>
                <a:path h="1783751" w="2139506">
                  <a:moveTo>
                    <a:pt x="53370" y="0"/>
                  </a:moveTo>
                  <a:lnTo>
                    <a:pt x="2086136" y="0"/>
                  </a:lnTo>
                  <a:cubicBezTo>
                    <a:pt x="2115612" y="0"/>
                    <a:pt x="2139506" y="23895"/>
                    <a:pt x="2139506" y="53370"/>
                  </a:cubicBezTo>
                  <a:lnTo>
                    <a:pt x="2139506" y="1730381"/>
                  </a:lnTo>
                  <a:cubicBezTo>
                    <a:pt x="2139506" y="1759856"/>
                    <a:pt x="2115612" y="1783751"/>
                    <a:pt x="2086136" y="1783751"/>
                  </a:cubicBezTo>
                  <a:lnTo>
                    <a:pt x="53370" y="1783751"/>
                  </a:lnTo>
                  <a:cubicBezTo>
                    <a:pt x="23895" y="1783751"/>
                    <a:pt x="0" y="1759856"/>
                    <a:pt x="0" y="1730381"/>
                  </a:cubicBezTo>
                  <a:lnTo>
                    <a:pt x="0" y="53370"/>
                  </a:lnTo>
                  <a:cubicBezTo>
                    <a:pt x="0" y="23895"/>
                    <a:pt x="23895" y="0"/>
                    <a:pt x="53370"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2139506" cy="1850426"/>
            </a:xfrm>
            <a:prstGeom prst="rect">
              <a:avLst/>
            </a:prstGeom>
          </p:spPr>
          <p:txBody>
            <a:bodyPr anchor="ctr" rtlCol="false" tIns="50800" lIns="50800" bIns="50800" rIns="50800"/>
            <a:lstStyle/>
            <a:p>
              <a:pPr algn="ctr">
                <a:lnSpc>
                  <a:spcPts val="3151"/>
                </a:lnSpc>
              </a:pPr>
            </a:p>
          </p:txBody>
        </p:sp>
      </p:grpSp>
      <p:sp>
        <p:nvSpPr>
          <p:cNvPr name="TextBox 6" id="6"/>
          <p:cNvSpPr txBox="true"/>
          <p:nvPr/>
        </p:nvSpPr>
        <p:spPr>
          <a:xfrm rot="0">
            <a:off x="1028700" y="2437294"/>
            <a:ext cx="7305586" cy="5699125"/>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Linear Regression: </a:t>
            </a:r>
            <a:r>
              <a:rPr lang="en-US" sz="2499">
                <a:solidFill>
                  <a:srgbClr val="FFFFFF"/>
                </a:solidFill>
                <a:latin typeface="Poppins"/>
                <a:ea typeface="Poppins"/>
                <a:cs typeface="Poppins"/>
                <a:sym typeface="Poppins"/>
              </a:rPr>
              <a:t>Performed best (R² ≈ 0.66), indicating that the relationships between inputs and power usage are largely linear.</a:t>
            </a:r>
          </a:p>
          <a:p>
            <a:pPr algn="just">
              <a:lnSpc>
                <a:spcPts val="3499"/>
              </a:lnSpc>
            </a:pP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Random Forest Regressor</a:t>
            </a:r>
            <a:r>
              <a:rPr lang="en-US" b="true" sz="2499">
                <a:solidFill>
                  <a:srgbClr val="FFFFFF"/>
                </a:solidFill>
                <a:latin typeface="Poppins Bold"/>
                <a:ea typeface="Poppins Bold"/>
                <a:cs typeface="Poppins Bold"/>
                <a:sym typeface="Poppins Bold"/>
              </a:rPr>
              <a:t>:</a:t>
            </a:r>
            <a:r>
              <a:rPr lang="en-US" sz="2499">
                <a:solidFill>
                  <a:srgbClr val="FFFFFF"/>
                </a:solidFill>
                <a:latin typeface="Poppins"/>
                <a:ea typeface="Poppins"/>
                <a:cs typeface="Poppins"/>
                <a:sym typeface="Poppins"/>
              </a:rPr>
              <a:t> Nearly matched linear regression (R² ≈ 0.66), suggesting minimal nonlinear gain</a:t>
            </a:r>
            <a:r>
              <a:rPr lang="en-US" sz="2499">
                <a:solidFill>
                  <a:srgbClr val="FFFFFF"/>
                </a:solidFill>
                <a:latin typeface="Poppins"/>
                <a:ea typeface="Poppins"/>
                <a:cs typeface="Poppins"/>
                <a:sym typeface="Poppins"/>
              </a:rPr>
              <a:t>.</a:t>
            </a:r>
          </a:p>
          <a:p>
            <a:pPr algn="just">
              <a:lnSpc>
                <a:spcPts val="3499"/>
              </a:lnSpc>
            </a:pP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Gradient Boosting Regressor</a:t>
            </a:r>
            <a:r>
              <a:rPr lang="en-US" b="true" sz="2499">
                <a:solidFill>
                  <a:srgbClr val="FFFFFF"/>
                </a:solidFill>
                <a:latin typeface="Poppins Bold"/>
                <a:ea typeface="Poppins Bold"/>
                <a:cs typeface="Poppins Bold"/>
                <a:sym typeface="Poppins Bold"/>
              </a:rPr>
              <a:t>:</a:t>
            </a:r>
            <a:r>
              <a:rPr lang="en-US" sz="2499">
                <a:solidFill>
                  <a:srgbClr val="FFFFFF"/>
                </a:solidFill>
                <a:latin typeface="Poppins"/>
                <a:ea typeface="Poppins"/>
                <a:cs typeface="Poppins"/>
                <a:sym typeface="Poppins"/>
              </a:rPr>
              <a:t> Slightly lower than the others (R² ≈ 0.65), likely due to the synthetic nature and limited complexity of the dataset</a:t>
            </a:r>
            <a:r>
              <a:rPr lang="en-US" sz="2499">
                <a:solidFill>
                  <a:srgbClr val="FFFFFF"/>
                </a:solidFill>
                <a:latin typeface="Poppins"/>
                <a:ea typeface="Poppins"/>
                <a:cs typeface="Poppins"/>
                <a:sym typeface="Poppins"/>
              </a:rPr>
              <a:t>.</a:t>
            </a:r>
          </a:p>
        </p:txBody>
      </p:sp>
      <p:grpSp>
        <p:nvGrpSpPr>
          <p:cNvPr name="Group 7" id="7"/>
          <p:cNvGrpSpPr/>
          <p:nvPr/>
        </p:nvGrpSpPr>
        <p:grpSpPr>
          <a:xfrm rot="0">
            <a:off x="9526796" y="2865211"/>
            <a:ext cx="7960811" cy="4556577"/>
            <a:chOff x="0" y="0"/>
            <a:chExt cx="10614414" cy="6075436"/>
          </a:xfrm>
        </p:grpSpPr>
        <p:grpSp>
          <p:nvGrpSpPr>
            <p:cNvPr name="Group 8" id="8"/>
            <p:cNvGrpSpPr/>
            <p:nvPr/>
          </p:nvGrpSpPr>
          <p:grpSpPr>
            <a:xfrm rot="0">
              <a:off x="0" y="0"/>
              <a:ext cx="10614414" cy="6075436"/>
              <a:chOff x="0" y="0"/>
              <a:chExt cx="2096674" cy="1200086"/>
            </a:xfrm>
          </p:grpSpPr>
          <p:sp>
            <p:nvSpPr>
              <p:cNvPr name="Freeform 9" id="9"/>
              <p:cNvSpPr/>
              <p:nvPr/>
            </p:nvSpPr>
            <p:spPr>
              <a:xfrm flipH="false" flipV="false" rot="0">
                <a:off x="0" y="0"/>
                <a:ext cx="2096674" cy="1200086"/>
              </a:xfrm>
              <a:custGeom>
                <a:avLst/>
                <a:gdLst/>
                <a:ahLst/>
                <a:cxnLst/>
                <a:rect r="r" b="b" t="t" l="l"/>
                <a:pathLst>
                  <a:path h="1200086" w="2096674">
                    <a:moveTo>
                      <a:pt x="54460" y="0"/>
                    </a:moveTo>
                    <a:lnTo>
                      <a:pt x="2042214" y="0"/>
                    </a:lnTo>
                    <a:cubicBezTo>
                      <a:pt x="2056658" y="0"/>
                      <a:pt x="2070510" y="5738"/>
                      <a:pt x="2080723" y="15951"/>
                    </a:cubicBezTo>
                    <a:cubicBezTo>
                      <a:pt x="2090937" y="26164"/>
                      <a:pt x="2096674" y="40016"/>
                      <a:pt x="2096674" y="54460"/>
                    </a:cubicBezTo>
                    <a:lnTo>
                      <a:pt x="2096674" y="1145626"/>
                    </a:lnTo>
                    <a:cubicBezTo>
                      <a:pt x="2096674" y="1160070"/>
                      <a:pt x="2090937" y="1173922"/>
                      <a:pt x="2080723" y="1184135"/>
                    </a:cubicBezTo>
                    <a:cubicBezTo>
                      <a:pt x="2070510" y="1194348"/>
                      <a:pt x="2056658" y="1200086"/>
                      <a:pt x="2042214" y="1200086"/>
                    </a:cubicBezTo>
                    <a:lnTo>
                      <a:pt x="54460" y="1200086"/>
                    </a:lnTo>
                    <a:cubicBezTo>
                      <a:pt x="40016" y="1200086"/>
                      <a:pt x="26164" y="1194348"/>
                      <a:pt x="15951" y="1184135"/>
                    </a:cubicBezTo>
                    <a:cubicBezTo>
                      <a:pt x="5738" y="1173922"/>
                      <a:pt x="0" y="1160070"/>
                      <a:pt x="0" y="1145626"/>
                    </a:cubicBezTo>
                    <a:lnTo>
                      <a:pt x="0" y="54460"/>
                    </a:lnTo>
                    <a:cubicBezTo>
                      <a:pt x="0" y="40016"/>
                      <a:pt x="5738" y="26164"/>
                      <a:pt x="15951" y="15951"/>
                    </a:cubicBezTo>
                    <a:cubicBezTo>
                      <a:pt x="26164" y="5738"/>
                      <a:pt x="40016" y="0"/>
                      <a:pt x="54460" y="0"/>
                    </a:cubicBezTo>
                    <a:close/>
                  </a:path>
                </a:pathLst>
              </a:custGeom>
              <a:solidFill>
                <a:srgbClr val="000000">
                  <a:alpha val="0"/>
                </a:srgbClr>
              </a:solidFill>
              <a:ln w="28575" cap="rnd">
                <a:solidFill>
                  <a:srgbClr val="FFFFFF"/>
                </a:solidFill>
                <a:prstDash val="solid"/>
                <a:round/>
              </a:ln>
            </p:spPr>
          </p:sp>
          <p:sp>
            <p:nvSpPr>
              <p:cNvPr name="TextBox 10" id="10"/>
              <p:cNvSpPr txBox="true"/>
              <p:nvPr/>
            </p:nvSpPr>
            <p:spPr>
              <a:xfrm>
                <a:off x="0" y="-66675"/>
                <a:ext cx="2096674" cy="1266761"/>
              </a:xfrm>
              <a:prstGeom prst="rect">
                <a:avLst/>
              </a:prstGeom>
            </p:spPr>
            <p:txBody>
              <a:bodyPr anchor="ctr" rtlCol="false" tIns="50800" lIns="50800" bIns="50800" rIns="50800"/>
              <a:lstStyle/>
              <a:p>
                <a:pPr algn="ctr">
                  <a:lnSpc>
                    <a:spcPts val="3151"/>
                  </a:lnSpc>
                </a:pPr>
              </a:p>
            </p:txBody>
          </p:sp>
        </p:grpSp>
        <p:sp>
          <p:nvSpPr>
            <p:cNvPr name="TextBox 11" id="11"/>
            <p:cNvSpPr txBox="true"/>
            <p:nvPr/>
          </p:nvSpPr>
          <p:spPr>
            <a:xfrm rot="0">
              <a:off x="901754" y="804377"/>
              <a:ext cx="8880743" cy="4511819"/>
            </a:xfrm>
            <a:prstGeom prst="rect">
              <a:avLst/>
            </a:prstGeom>
          </p:spPr>
          <p:txBody>
            <a:bodyPr anchor="t" rtlCol="false" tIns="0" lIns="0" bIns="0" rIns="0">
              <a:spAutoFit/>
            </a:bodyPr>
            <a:lstStyle/>
            <a:p>
              <a:pPr algn="just">
                <a:lnSpc>
                  <a:spcPts val="8504"/>
                </a:lnSpc>
              </a:pPr>
              <a:r>
                <a:rPr lang="en-US" b="true" sz="8338" spc="-375">
                  <a:solidFill>
                    <a:srgbClr val="FFFFFF"/>
                  </a:solidFill>
                  <a:latin typeface="Telegraf Bold"/>
                  <a:ea typeface="Telegraf Bold"/>
                  <a:cs typeface="Telegraf Bold"/>
                  <a:sym typeface="Telegraf Bold"/>
                </a:rPr>
                <a:t>Algorithms Used for Data Analysis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894724"/>
            <a:ext cx="7145508" cy="3799934"/>
            <a:chOff x="0" y="0"/>
            <a:chExt cx="1881944" cy="1000806"/>
          </a:xfrm>
        </p:grpSpPr>
        <p:sp>
          <p:nvSpPr>
            <p:cNvPr name="Freeform 4" id="4"/>
            <p:cNvSpPr/>
            <p:nvPr/>
          </p:nvSpPr>
          <p:spPr>
            <a:xfrm flipH="false" flipV="false" rot="0">
              <a:off x="0" y="0"/>
              <a:ext cx="1881944" cy="1000806"/>
            </a:xfrm>
            <a:custGeom>
              <a:avLst/>
              <a:gdLst/>
              <a:ahLst/>
              <a:cxnLst/>
              <a:rect r="r" b="b" t="t" l="l"/>
              <a:pathLst>
                <a:path h="1000806" w="1881944">
                  <a:moveTo>
                    <a:pt x="60674" y="0"/>
                  </a:moveTo>
                  <a:lnTo>
                    <a:pt x="1821270" y="0"/>
                  </a:lnTo>
                  <a:cubicBezTo>
                    <a:pt x="1854780" y="0"/>
                    <a:pt x="1881944" y="27165"/>
                    <a:pt x="1881944" y="60674"/>
                  </a:cubicBezTo>
                  <a:lnTo>
                    <a:pt x="1881944" y="940132"/>
                  </a:lnTo>
                  <a:cubicBezTo>
                    <a:pt x="1881944" y="956223"/>
                    <a:pt x="1875552" y="971656"/>
                    <a:pt x="1864173" y="983035"/>
                  </a:cubicBezTo>
                  <a:cubicBezTo>
                    <a:pt x="1852795" y="994413"/>
                    <a:pt x="1837362" y="1000806"/>
                    <a:pt x="1821270" y="1000806"/>
                  </a:cubicBezTo>
                  <a:lnTo>
                    <a:pt x="60674" y="1000806"/>
                  </a:lnTo>
                  <a:cubicBezTo>
                    <a:pt x="27165" y="1000806"/>
                    <a:pt x="0" y="973641"/>
                    <a:pt x="0" y="940132"/>
                  </a:cubicBezTo>
                  <a:lnTo>
                    <a:pt x="0" y="60674"/>
                  </a:lnTo>
                  <a:cubicBezTo>
                    <a:pt x="0" y="27165"/>
                    <a:pt x="27165" y="0"/>
                    <a:pt x="60674"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1881944" cy="1067481"/>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8571008" y="1894724"/>
            <a:ext cx="8793686" cy="7363576"/>
            <a:chOff x="0" y="0"/>
            <a:chExt cx="1881944" cy="1575885"/>
          </a:xfrm>
        </p:grpSpPr>
        <p:sp>
          <p:nvSpPr>
            <p:cNvPr name="Freeform 7" id="7"/>
            <p:cNvSpPr/>
            <p:nvPr/>
          </p:nvSpPr>
          <p:spPr>
            <a:xfrm flipH="false" flipV="false" rot="0">
              <a:off x="0" y="0"/>
              <a:ext cx="1881944" cy="1575885"/>
            </a:xfrm>
            <a:custGeom>
              <a:avLst/>
              <a:gdLst/>
              <a:ahLst/>
              <a:cxnLst/>
              <a:rect r="r" b="b" t="t" l="l"/>
              <a:pathLst>
                <a:path h="1575885" w="1881944">
                  <a:moveTo>
                    <a:pt x="49302" y="0"/>
                  </a:moveTo>
                  <a:lnTo>
                    <a:pt x="1832642" y="0"/>
                  </a:lnTo>
                  <a:cubicBezTo>
                    <a:pt x="1845718" y="0"/>
                    <a:pt x="1858258" y="5194"/>
                    <a:pt x="1867504" y="14440"/>
                  </a:cubicBezTo>
                  <a:cubicBezTo>
                    <a:pt x="1876750" y="23686"/>
                    <a:pt x="1881944" y="36226"/>
                    <a:pt x="1881944" y="49302"/>
                  </a:cubicBezTo>
                  <a:lnTo>
                    <a:pt x="1881944" y="1526583"/>
                  </a:lnTo>
                  <a:cubicBezTo>
                    <a:pt x="1881944" y="1539659"/>
                    <a:pt x="1876750" y="1552199"/>
                    <a:pt x="1867504" y="1561445"/>
                  </a:cubicBezTo>
                  <a:cubicBezTo>
                    <a:pt x="1858258" y="1570691"/>
                    <a:pt x="1845718" y="1575885"/>
                    <a:pt x="1832642" y="1575885"/>
                  </a:cubicBezTo>
                  <a:lnTo>
                    <a:pt x="49302" y="1575885"/>
                  </a:lnTo>
                  <a:cubicBezTo>
                    <a:pt x="22073" y="1575885"/>
                    <a:pt x="0" y="1553812"/>
                    <a:pt x="0" y="1526583"/>
                  </a:cubicBezTo>
                  <a:lnTo>
                    <a:pt x="0" y="49302"/>
                  </a:lnTo>
                  <a:cubicBezTo>
                    <a:pt x="0" y="36226"/>
                    <a:pt x="5194" y="23686"/>
                    <a:pt x="14440" y="14440"/>
                  </a:cubicBezTo>
                  <a:cubicBezTo>
                    <a:pt x="23686" y="5194"/>
                    <a:pt x="36226" y="0"/>
                    <a:pt x="49302"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8" id="8"/>
            <p:cNvSpPr txBox="true"/>
            <p:nvPr/>
          </p:nvSpPr>
          <p:spPr>
            <a:xfrm>
              <a:off x="0" y="-66675"/>
              <a:ext cx="1881944" cy="1642560"/>
            </a:xfrm>
            <a:prstGeom prst="rect">
              <a:avLst/>
            </a:prstGeom>
          </p:spPr>
          <p:txBody>
            <a:bodyPr anchor="ctr" rtlCol="false" tIns="62517" lIns="62517" bIns="62517" rIns="62517"/>
            <a:lstStyle/>
            <a:p>
              <a:pPr algn="ctr">
                <a:lnSpc>
                  <a:spcPts val="3151"/>
                </a:lnSpc>
              </a:pPr>
            </a:p>
          </p:txBody>
        </p:sp>
      </p:grpSp>
      <p:sp>
        <p:nvSpPr>
          <p:cNvPr name="TextBox 9" id="9"/>
          <p:cNvSpPr txBox="true"/>
          <p:nvPr/>
        </p:nvSpPr>
        <p:spPr>
          <a:xfrm rot="0">
            <a:off x="9693095" y="2232264"/>
            <a:ext cx="6549512" cy="7372585"/>
          </a:xfrm>
          <a:prstGeom prst="rect">
            <a:avLst/>
          </a:prstGeom>
        </p:spPr>
        <p:txBody>
          <a:bodyPr anchor="t" rtlCol="false" tIns="0" lIns="0" bIns="0" rIns="0">
            <a:spAutoFit/>
          </a:bodyPr>
          <a:lstStyle/>
          <a:p>
            <a:pPr algn="just" marL="600888" indent="-300444" lvl="1">
              <a:lnSpc>
                <a:spcPts val="3896"/>
              </a:lnSpc>
              <a:buFont typeface="Arial"/>
              <a:buChar char="•"/>
            </a:pPr>
            <a:r>
              <a:rPr lang="en-US" b="true" sz="2783">
                <a:solidFill>
                  <a:srgbClr val="FFFFFF"/>
                </a:solidFill>
                <a:latin typeface="Poppins Bold"/>
                <a:ea typeface="Poppins Bold"/>
                <a:cs typeface="Poppins Bold"/>
                <a:sym typeface="Poppins Bold"/>
              </a:rPr>
              <a:t>Best Model: Linear Regression</a:t>
            </a:r>
          </a:p>
          <a:p>
            <a:pPr algn="just">
              <a:lnSpc>
                <a:spcPts val="3896"/>
              </a:lnSpc>
            </a:pPr>
          </a:p>
          <a:p>
            <a:pPr algn="just" marL="600888" indent="-300444" lvl="1">
              <a:lnSpc>
                <a:spcPts val="3896"/>
              </a:lnSpc>
              <a:buFont typeface="Arial"/>
              <a:buChar char="•"/>
            </a:pPr>
            <a:r>
              <a:rPr lang="en-US" b="true" sz="2783">
                <a:solidFill>
                  <a:srgbClr val="FFFFFF"/>
                </a:solidFill>
                <a:latin typeface="Poppins Bold"/>
                <a:ea typeface="Poppins Bold"/>
                <a:cs typeface="Poppins Bold"/>
                <a:sym typeface="Poppins Bold"/>
              </a:rPr>
              <a:t>Why Linear Regression?</a:t>
            </a:r>
          </a:p>
          <a:p>
            <a:pPr algn="just">
              <a:lnSpc>
                <a:spcPts val="3896"/>
              </a:lnSpc>
            </a:pPr>
          </a:p>
          <a:p>
            <a:pPr algn="just" marL="600888" indent="-300444" lvl="1">
              <a:lnSpc>
                <a:spcPts val="3896"/>
              </a:lnSpc>
              <a:buFont typeface="Arial"/>
              <a:buChar char="•"/>
            </a:pPr>
            <a:r>
              <a:rPr lang="en-US" sz="2783">
                <a:solidFill>
                  <a:srgbClr val="FFFFFF"/>
                </a:solidFill>
                <a:latin typeface="Poppins"/>
                <a:ea typeface="Poppins"/>
                <a:cs typeface="Poppins"/>
                <a:sym typeface="Poppins"/>
              </a:rPr>
              <a:t>T</a:t>
            </a:r>
            <a:r>
              <a:rPr lang="en-US" sz="2783">
                <a:solidFill>
                  <a:srgbClr val="FFFFFF"/>
                </a:solidFill>
                <a:latin typeface="Poppins"/>
                <a:ea typeface="Poppins"/>
                <a:cs typeface="Poppins"/>
                <a:sym typeface="Poppins"/>
              </a:rPr>
              <a:t>he dataset had minimal nonlinear interactions or complexities for tree-based models to exploit, and the added noise was purely random rather than patterned, making simple models like Linear Regression more effective, interpretable, and robust in capturing the core trend without overfitting.</a:t>
            </a:r>
          </a:p>
          <a:p>
            <a:pPr algn="just">
              <a:lnSpc>
                <a:spcPts val="3896"/>
              </a:lnSpc>
            </a:pPr>
          </a:p>
        </p:txBody>
      </p:sp>
      <p:sp>
        <p:nvSpPr>
          <p:cNvPr name="TextBox 10" id="10"/>
          <p:cNvSpPr txBox="true"/>
          <p:nvPr/>
        </p:nvSpPr>
        <p:spPr>
          <a:xfrm rot="0">
            <a:off x="1655525" y="2356089"/>
            <a:ext cx="4045420" cy="2623968"/>
          </a:xfrm>
          <a:prstGeom prst="rect">
            <a:avLst/>
          </a:prstGeom>
        </p:spPr>
        <p:txBody>
          <a:bodyPr anchor="t" rtlCol="false" tIns="0" lIns="0" bIns="0" rIns="0">
            <a:spAutoFit/>
          </a:bodyPr>
          <a:lstStyle/>
          <a:p>
            <a:pPr algn="l">
              <a:lnSpc>
                <a:spcPts val="6642"/>
              </a:lnSpc>
            </a:pPr>
            <a:r>
              <a:rPr lang="en-US" sz="6512" spc="-293" b="true">
                <a:solidFill>
                  <a:srgbClr val="FFFFFF"/>
                </a:solidFill>
                <a:latin typeface="Telegraf Bold"/>
                <a:ea typeface="Telegraf Bold"/>
                <a:cs typeface="Telegraf Bold"/>
                <a:sym typeface="Telegraf Bold"/>
              </a:rPr>
              <a:t>Best Model Selection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56887" y="1253414"/>
            <a:ext cx="10802413" cy="7359867"/>
            <a:chOff x="0" y="0"/>
            <a:chExt cx="14403217" cy="9813156"/>
          </a:xfrm>
        </p:grpSpPr>
        <p:grpSp>
          <p:nvGrpSpPr>
            <p:cNvPr name="Group 4" id="4"/>
            <p:cNvGrpSpPr/>
            <p:nvPr/>
          </p:nvGrpSpPr>
          <p:grpSpPr>
            <a:xfrm rot="0">
              <a:off x="0" y="0"/>
              <a:ext cx="14403217" cy="9813156"/>
              <a:chOff x="0" y="0"/>
              <a:chExt cx="2105374" cy="1434427"/>
            </a:xfrm>
          </p:grpSpPr>
          <p:sp>
            <p:nvSpPr>
              <p:cNvPr name="Freeform 5" id="5"/>
              <p:cNvSpPr/>
              <p:nvPr/>
            </p:nvSpPr>
            <p:spPr>
              <a:xfrm flipH="false" flipV="false" rot="0">
                <a:off x="0" y="0"/>
                <a:ext cx="2105374" cy="1434427"/>
              </a:xfrm>
              <a:custGeom>
                <a:avLst/>
                <a:gdLst/>
                <a:ahLst/>
                <a:cxnLst/>
                <a:rect r="r" b="b" t="t" l="l"/>
                <a:pathLst>
                  <a:path h="1434427" w="2105374">
                    <a:moveTo>
                      <a:pt x="40676" y="0"/>
                    </a:moveTo>
                    <a:lnTo>
                      <a:pt x="2064698" y="0"/>
                    </a:lnTo>
                    <a:cubicBezTo>
                      <a:pt x="2087163" y="0"/>
                      <a:pt x="2105374" y="18211"/>
                      <a:pt x="2105374" y="40676"/>
                    </a:cubicBezTo>
                    <a:lnTo>
                      <a:pt x="2105374" y="1393751"/>
                    </a:lnTo>
                    <a:cubicBezTo>
                      <a:pt x="2105374" y="1416216"/>
                      <a:pt x="2087163" y="1434427"/>
                      <a:pt x="2064698" y="1434427"/>
                    </a:cubicBezTo>
                    <a:lnTo>
                      <a:pt x="40676" y="1434427"/>
                    </a:lnTo>
                    <a:cubicBezTo>
                      <a:pt x="18211" y="1434427"/>
                      <a:pt x="0" y="1416216"/>
                      <a:pt x="0" y="1393751"/>
                    </a:cubicBezTo>
                    <a:lnTo>
                      <a:pt x="0" y="40676"/>
                    </a:lnTo>
                    <a:cubicBezTo>
                      <a:pt x="0" y="18211"/>
                      <a:pt x="18211" y="0"/>
                      <a:pt x="4067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6" id="6"/>
              <p:cNvSpPr txBox="true"/>
              <p:nvPr/>
            </p:nvSpPr>
            <p:spPr>
              <a:xfrm>
                <a:off x="0" y="-66675"/>
                <a:ext cx="2105374" cy="1501102"/>
              </a:xfrm>
              <a:prstGeom prst="rect">
                <a:avLst/>
              </a:prstGeom>
            </p:spPr>
            <p:txBody>
              <a:bodyPr anchor="ctr" rtlCol="false" tIns="50800" lIns="50800" bIns="50800" rIns="50800"/>
              <a:lstStyle/>
              <a:p>
                <a:pPr algn="ctr">
                  <a:lnSpc>
                    <a:spcPts val="3151"/>
                  </a:lnSpc>
                </a:pPr>
              </a:p>
            </p:txBody>
          </p:sp>
        </p:grpSp>
        <p:sp>
          <p:nvSpPr>
            <p:cNvPr name="TextBox 7" id="7"/>
            <p:cNvSpPr txBox="true"/>
            <p:nvPr/>
          </p:nvSpPr>
          <p:spPr>
            <a:xfrm rot="0">
              <a:off x="889773" y="675705"/>
              <a:ext cx="12623671" cy="9137450"/>
            </a:xfrm>
            <a:prstGeom prst="rect">
              <a:avLst/>
            </a:prstGeom>
          </p:spPr>
          <p:txBody>
            <a:bodyPr anchor="t" rtlCol="false" tIns="0" lIns="0" bIns="0" rIns="0">
              <a:spAutoFit/>
            </a:bodyPr>
            <a:lstStyle/>
            <a:p>
              <a:pPr algn="just">
                <a:lnSpc>
                  <a:spcPts val="3027"/>
                </a:lnSpc>
              </a:pPr>
              <a:r>
                <a:rPr lang="en-US" sz="2162">
                  <a:solidFill>
                    <a:srgbClr val="FFFFFF"/>
                  </a:solidFill>
                  <a:latin typeface="Poppins"/>
                  <a:ea typeface="Poppins"/>
                  <a:cs typeface="Poppins"/>
                  <a:sym typeface="Poppins"/>
                </a:rPr>
                <a:t>Key advantages of Linear Regression:</a:t>
              </a:r>
            </a:p>
            <a:p>
              <a:pPr algn="l">
                <a:lnSpc>
                  <a:spcPts val="3027"/>
                </a:lnSpc>
              </a:pPr>
              <a:r>
                <a:rPr lang="en-US" sz="2162">
                  <a:solidFill>
                    <a:srgbClr val="FFFFFF"/>
                  </a:solidFill>
                  <a:latin typeface="Poppins"/>
                  <a:ea typeface="Poppins"/>
                  <a:cs typeface="Poppins"/>
                  <a:sym typeface="Poppins"/>
                </a:rPr>
                <a:t>1. </a:t>
              </a:r>
              <a:r>
                <a:rPr lang="en-US" sz="2162" b="true">
                  <a:solidFill>
                    <a:srgbClr val="FFFFFF"/>
                  </a:solidFill>
                  <a:latin typeface="Poppins Bold"/>
                  <a:ea typeface="Poppins Bold"/>
                  <a:cs typeface="Poppins Bold"/>
                  <a:sym typeface="Poppins Bold"/>
                </a:rPr>
                <a:t>Simplicity &amp; Interpretability</a:t>
              </a:r>
              <a:r>
                <a:rPr lang="en-US" sz="2162">
                  <a:solidFill>
                    <a:srgbClr val="FFFFFF"/>
                  </a:solidFill>
                  <a:latin typeface="Poppins"/>
                  <a:ea typeface="Poppins"/>
                  <a:cs typeface="Poppins"/>
                  <a:sym typeface="Poppins"/>
                </a:rPr>
                <a:t>: Easy to implement and understand, with clear coefficients showing the impact of each feature on the target.</a:t>
              </a:r>
            </a:p>
            <a:p>
              <a:pPr algn="l">
                <a:lnSpc>
                  <a:spcPts val="3027"/>
                </a:lnSpc>
              </a:pPr>
            </a:p>
            <a:p>
              <a:pPr algn="l">
                <a:lnSpc>
                  <a:spcPts val="3027"/>
                </a:lnSpc>
              </a:pPr>
            </a:p>
            <a:p>
              <a:pPr algn="l">
                <a:lnSpc>
                  <a:spcPts val="3027"/>
                </a:lnSpc>
              </a:pPr>
              <a:r>
                <a:rPr lang="en-US" sz="2162">
                  <a:solidFill>
                    <a:srgbClr val="FFFFFF"/>
                  </a:solidFill>
                  <a:latin typeface="Poppins"/>
                  <a:ea typeface="Poppins"/>
                  <a:cs typeface="Poppins"/>
                  <a:sym typeface="Poppins"/>
                </a:rPr>
                <a:t>2. </a:t>
              </a:r>
              <a:r>
                <a:rPr lang="en-US" sz="2162" b="true">
                  <a:solidFill>
                    <a:srgbClr val="FFFFFF"/>
                  </a:solidFill>
                  <a:latin typeface="Poppins Bold"/>
                  <a:ea typeface="Poppins Bold"/>
                  <a:cs typeface="Poppins Bold"/>
                  <a:sym typeface="Poppins Bold"/>
                </a:rPr>
                <a:t>Efficiency</a:t>
              </a:r>
              <a:r>
                <a:rPr lang="en-US" sz="2162">
                  <a:solidFill>
                    <a:srgbClr val="FFFFFF"/>
                  </a:solidFill>
                  <a:latin typeface="Poppins"/>
                  <a:ea typeface="Poppins"/>
                  <a:cs typeface="Poppins"/>
                  <a:sym typeface="Poppins"/>
                </a:rPr>
                <a:t>: Fast to train and predict, even on large datasets with many features.</a:t>
              </a:r>
            </a:p>
            <a:p>
              <a:pPr algn="l">
                <a:lnSpc>
                  <a:spcPts val="3027"/>
                </a:lnSpc>
              </a:pPr>
            </a:p>
            <a:p>
              <a:pPr algn="l">
                <a:lnSpc>
                  <a:spcPts val="3027"/>
                </a:lnSpc>
              </a:pPr>
            </a:p>
            <a:p>
              <a:pPr algn="l">
                <a:lnSpc>
                  <a:spcPts val="3027"/>
                </a:lnSpc>
              </a:pPr>
              <a:r>
                <a:rPr lang="en-US" sz="2162">
                  <a:solidFill>
                    <a:srgbClr val="FFFFFF"/>
                  </a:solidFill>
                  <a:latin typeface="Poppins"/>
                  <a:ea typeface="Poppins"/>
                  <a:cs typeface="Poppins"/>
                  <a:sym typeface="Poppins"/>
                </a:rPr>
                <a:t>3. </a:t>
              </a:r>
              <a:r>
                <a:rPr lang="en-US" sz="2162" b="true">
                  <a:solidFill>
                    <a:srgbClr val="FFFFFF"/>
                  </a:solidFill>
                  <a:latin typeface="Poppins Bold"/>
                  <a:ea typeface="Poppins Bold"/>
                  <a:cs typeface="Poppins Bold"/>
                  <a:sym typeface="Poppins Bold"/>
                </a:rPr>
                <a:t>Baseline Performance</a:t>
              </a:r>
              <a:r>
                <a:rPr lang="en-US" sz="2162">
                  <a:solidFill>
                    <a:srgbClr val="FFFFFF"/>
                  </a:solidFill>
                  <a:latin typeface="Poppins"/>
                  <a:ea typeface="Poppins"/>
                  <a:cs typeface="Poppins"/>
                  <a:sym typeface="Poppins"/>
                </a:rPr>
                <a:t>: Serves as a strong benchmark model; often performs well when data relationships are linear or near-linear.</a:t>
              </a:r>
            </a:p>
            <a:p>
              <a:pPr algn="l">
                <a:lnSpc>
                  <a:spcPts val="3027"/>
                </a:lnSpc>
              </a:pPr>
            </a:p>
            <a:p>
              <a:pPr algn="l">
                <a:lnSpc>
                  <a:spcPts val="3027"/>
                </a:lnSpc>
              </a:pPr>
            </a:p>
            <a:p>
              <a:pPr algn="l">
                <a:lnSpc>
                  <a:spcPts val="3027"/>
                </a:lnSpc>
              </a:pPr>
              <a:r>
                <a:rPr lang="en-US" sz="2162">
                  <a:solidFill>
                    <a:srgbClr val="FFFFFF"/>
                  </a:solidFill>
                  <a:latin typeface="Poppins"/>
                  <a:ea typeface="Poppins"/>
                  <a:cs typeface="Poppins"/>
                  <a:sym typeface="Poppins"/>
                </a:rPr>
                <a:t>4. </a:t>
              </a:r>
              <a:r>
                <a:rPr lang="en-US" sz="2162" b="true">
                  <a:solidFill>
                    <a:srgbClr val="FFFFFF"/>
                  </a:solidFill>
                  <a:latin typeface="Poppins Bold"/>
                  <a:ea typeface="Poppins Bold"/>
                  <a:cs typeface="Poppins Bold"/>
                  <a:sym typeface="Poppins Bold"/>
                </a:rPr>
                <a:t>Low Overfitting</a:t>
              </a:r>
              <a:r>
                <a:rPr lang="en-US" sz="2162">
                  <a:solidFill>
                    <a:srgbClr val="FFFFFF"/>
                  </a:solidFill>
                  <a:latin typeface="Poppins"/>
                  <a:ea typeface="Poppins"/>
                  <a:cs typeface="Poppins"/>
                  <a:sym typeface="Poppins"/>
                </a:rPr>
                <a:t> Risk: With proper assumptions and regularization, it generalizes well, especially on clean, noise-free datasets</a:t>
              </a:r>
            </a:p>
            <a:p>
              <a:pPr algn="l">
                <a:lnSpc>
                  <a:spcPts val="3027"/>
                </a:lnSpc>
              </a:pPr>
            </a:p>
            <a:p>
              <a:pPr algn="just">
                <a:lnSpc>
                  <a:spcPts val="3027"/>
                </a:lnSpc>
              </a:pPr>
            </a:p>
          </p:txBody>
        </p:sp>
      </p:grpSp>
      <p:grpSp>
        <p:nvGrpSpPr>
          <p:cNvPr name="Group 8" id="8"/>
          <p:cNvGrpSpPr/>
          <p:nvPr/>
        </p:nvGrpSpPr>
        <p:grpSpPr>
          <a:xfrm rot="0">
            <a:off x="0" y="2076162"/>
            <a:ext cx="6208730" cy="4075229"/>
            <a:chOff x="0" y="0"/>
            <a:chExt cx="8278306" cy="5433639"/>
          </a:xfrm>
        </p:grpSpPr>
        <p:grpSp>
          <p:nvGrpSpPr>
            <p:cNvPr name="Group 9" id="9"/>
            <p:cNvGrpSpPr/>
            <p:nvPr/>
          </p:nvGrpSpPr>
          <p:grpSpPr>
            <a:xfrm rot="0">
              <a:off x="0" y="0"/>
              <a:ext cx="8278306" cy="5433639"/>
              <a:chOff x="0" y="0"/>
              <a:chExt cx="1635221" cy="1073311"/>
            </a:xfrm>
          </p:grpSpPr>
          <p:sp>
            <p:nvSpPr>
              <p:cNvPr name="Freeform 10" id="10"/>
              <p:cNvSpPr/>
              <p:nvPr/>
            </p:nvSpPr>
            <p:spPr>
              <a:xfrm flipH="false" flipV="false" rot="0">
                <a:off x="0" y="0"/>
                <a:ext cx="1635221" cy="1073311"/>
              </a:xfrm>
              <a:custGeom>
                <a:avLst/>
                <a:gdLst/>
                <a:ahLst/>
                <a:cxnLst/>
                <a:rect r="r" b="b" t="t" l="l"/>
                <a:pathLst>
                  <a:path h="1073311" w="1635221">
                    <a:moveTo>
                      <a:pt x="69829" y="0"/>
                    </a:moveTo>
                    <a:lnTo>
                      <a:pt x="1565392" y="0"/>
                    </a:lnTo>
                    <a:cubicBezTo>
                      <a:pt x="1583912" y="0"/>
                      <a:pt x="1601673" y="7357"/>
                      <a:pt x="1614769" y="20452"/>
                    </a:cubicBezTo>
                    <a:cubicBezTo>
                      <a:pt x="1627864" y="33548"/>
                      <a:pt x="1635221" y="51309"/>
                      <a:pt x="1635221" y="69829"/>
                    </a:cubicBezTo>
                    <a:lnTo>
                      <a:pt x="1635221" y="1003483"/>
                    </a:lnTo>
                    <a:cubicBezTo>
                      <a:pt x="1635221" y="1022002"/>
                      <a:pt x="1627864" y="1039764"/>
                      <a:pt x="1614769" y="1052859"/>
                    </a:cubicBezTo>
                    <a:cubicBezTo>
                      <a:pt x="1601673" y="1065955"/>
                      <a:pt x="1583912" y="1073311"/>
                      <a:pt x="1565392" y="1073311"/>
                    </a:cubicBezTo>
                    <a:lnTo>
                      <a:pt x="69829" y="1073311"/>
                    </a:lnTo>
                    <a:cubicBezTo>
                      <a:pt x="51309" y="1073311"/>
                      <a:pt x="33548" y="1065955"/>
                      <a:pt x="20452" y="1052859"/>
                    </a:cubicBezTo>
                    <a:cubicBezTo>
                      <a:pt x="7357" y="1039764"/>
                      <a:pt x="0" y="1022002"/>
                      <a:pt x="0" y="1003483"/>
                    </a:cubicBezTo>
                    <a:lnTo>
                      <a:pt x="0" y="69829"/>
                    </a:lnTo>
                    <a:cubicBezTo>
                      <a:pt x="0" y="51309"/>
                      <a:pt x="7357" y="33548"/>
                      <a:pt x="20452" y="20452"/>
                    </a:cubicBezTo>
                    <a:cubicBezTo>
                      <a:pt x="33548" y="7357"/>
                      <a:pt x="51309" y="0"/>
                      <a:pt x="69829" y="0"/>
                    </a:cubicBezTo>
                    <a:close/>
                  </a:path>
                </a:pathLst>
              </a:custGeom>
              <a:gradFill rotWithShape="true">
                <a:gsLst>
                  <a:gs pos="0">
                    <a:srgbClr val="000000">
                      <a:alpha val="78000"/>
                    </a:srgbClr>
                  </a:gs>
                  <a:gs pos="100000">
                    <a:srgbClr val="DDDDDD">
                      <a:alpha val="14820"/>
                    </a:srgbClr>
                  </a:gs>
                </a:gsLst>
                <a:lin ang="2700000"/>
              </a:gradFill>
            </p:spPr>
          </p:sp>
          <p:sp>
            <p:nvSpPr>
              <p:cNvPr name="TextBox 11" id="11"/>
              <p:cNvSpPr txBox="true"/>
              <p:nvPr/>
            </p:nvSpPr>
            <p:spPr>
              <a:xfrm>
                <a:off x="0" y="-66675"/>
                <a:ext cx="1635221" cy="1139986"/>
              </a:xfrm>
              <a:prstGeom prst="rect">
                <a:avLst/>
              </a:prstGeom>
            </p:spPr>
            <p:txBody>
              <a:bodyPr anchor="ctr" rtlCol="false" tIns="50800" lIns="50800" bIns="50800" rIns="50800"/>
              <a:lstStyle/>
              <a:p>
                <a:pPr algn="ctr">
                  <a:lnSpc>
                    <a:spcPts val="3151"/>
                  </a:lnSpc>
                </a:pPr>
              </a:p>
            </p:txBody>
          </p:sp>
        </p:grpSp>
        <p:sp>
          <p:nvSpPr>
            <p:cNvPr name="TextBox 12" id="12"/>
            <p:cNvSpPr txBox="true"/>
            <p:nvPr/>
          </p:nvSpPr>
          <p:spPr>
            <a:xfrm rot="0">
              <a:off x="931692" y="804266"/>
              <a:ext cx="6414923" cy="3872732"/>
            </a:xfrm>
            <a:prstGeom prst="rect">
              <a:avLst/>
            </a:prstGeom>
          </p:spPr>
          <p:txBody>
            <a:bodyPr anchor="t" rtlCol="false" tIns="0" lIns="0" bIns="0" rIns="0">
              <a:spAutoFit/>
            </a:bodyPr>
            <a:lstStyle/>
            <a:p>
              <a:pPr algn="just">
                <a:lnSpc>
                  <a:spcPts val="7326"/>
                </a:lnSpc>
              </a:pPr>
              <a:r>
                <a:rPr lang="en-US" b="true" sz="7182" spc="-323">
                  <a:solidFill>
                    <a:srgbClr val="FFFFFF"/>
                  </a:solidFill>
                  <a:latin typeface="Telegraf Bold"/>
                  <a:ea typeface="Telegraf Bold"/>
                  <a:cs typeface="Telegraf Bold"/>
                  <a:sym typeface="Telegraf Bold"/>
                </a:rPr>
                <a:t>Benefits of Linear</a:t>
              </a:r>
            </a:p>
            <a:p>
              <a:pPr algn="just">
                <a:lnSpc>
                  <a:spcPts val="7326"/>
                </a:lnSpc>
              </a:pPr>
              <a:r>
                <a:rPr lang="en-US" b="true" sz="7182" spc="-323">
                  <a:solidFill>
                    <a:srgbClr val="FFFFFF"/>
                  </a:solidFill>
                  <a:latin typeface="Telegraf Bold"/>
                  <a:ea typeface="Telegraf Bold"/>
                  <a:cs typeface="Telegraf Bold"/>
                  <a:sym typeface="Telegraf Bold"/>
                </a:rPr>
                <a:t>Regression </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19952" y="3865549"/>
            <a:ext cx="16648096" cy="2555903"/>
            <a:chOff x="0" y="0"/>
            <a:chExt cx="4384684" cy="673160"/>
          </a:xfrm>
        </p:grpSpPr>
        <p:sp>
          <p:nvSpPr>
            <p:cNvPr name="Freeform 7" id="7"/>
            <p:cNvSpPr/>
            <p:nvPr/>
          </p:nvSpPr>
          <p:spPr>
            <a:xfrm flipH="false" flipV="false" rot="0">
              <a:off x="0" y="0"/>
              <a:ext cx="4384684" cy="673160"/>
            </a:xfrm>
            <a:custGeom>
              <a:avLst/>
              <a:gdLst/>
              <a:ahLst/>
              <a:cxnLst/>
              <a:rect r="r" b="b" t="t" l="l"/>
              <a:pathLst>
                <a:path h="673160" w="4384684">
                  <a:moveTo>
                    <a:pt x="26042" y="0"/>
                  </a:moveTo>
                  <a:lnTo>
                    <a:pt x="4358642" y="0"/>
                  </a:lnTo>
                  <a:cubicBezTo>
                    <a:pt x="4365548" y="0"/>
                    <a:pt x="4372172" y="2744"/>
                    <a:pt x="4377056" y="7627"/>
                  </a:cubicBezTo>
                  <a:cubicBezTo>
                    <a:pt x="4381940" y="12511"/>
                    <a:pt x="4384684" y="19135"/>
                    <a:pt x="4384684" y="26042"/>
                  </a:cubicBezTo>
                  <a:lnTo>
                    <a:pt x="4384684" y="647118"/>
                  </a:lnTo>
                  <a:cubicBezTo>
                    <a:pt x="4384684" y="654024"/>
                    <a:pt x="4381940" y="660648"/>
                    <a:pt x="4377056" y="665532"/>
                  </a:cubicBezTo>
                  <a:cubicBezTo>
                    <a:pt x="4372172" y="670416"/>
                    <a:pt x="4365548" y="673160"/>
                    <a:pt x="4358642" y="673160"/>
                  </a:cubicBezTo>
                  <a:lnTo>
                    <a:pt x="26042" y="673160"/>
                  </a:lnTo>
                  <a:cubicBezTo>
                    <a:pt x="19135" y="673160"/>
                    <a:pt x="12511" y="670416"/>
                    <a:pt x="7627" y="665532"/>
                  </a:cubicBezTo>
                  <a:cubicBezTo>
                    <a:pt x="2744" y="660648"/>
                    <a:pt x="0" y="654024"/>
                    <a:pt x="0" y="647118"/>
                  </a:cubicBezTo>
                  <a:lnTo>
                    <a:pt x="0" y="26042"/>
                  </a:lnTo>
                  <a:cubicBezTo>
                    <a:pt x="0" y="19135"/>
                    <a:pt x="2744" y="12511"/>
                    <a:pt x="7627" y="7627"/>
                  </a:cubicBezTo>
                  <a:cubicBezTo>
                    <a:pt x="12511" y="2744"/>
                    <a:pt x="19135" y="0"/>
                    <a:pt x="26042" y="0"/>
                  </a:cubicBezTo>
                  <a:close/>
                </a:path>
              </a:pathLst>
            </a:custGeom>
            <a:solidFill>
              <a:srgbClr val="FFFFFF">
                <a:alpha val="21961"/>
              </a:srgbClr>
            </a:solidFill>
          </p:spPr>
        </p:sp>
        <p:sp>
          <p:nvSpPr>
            <p:cNvPr name="TextBox 8" id="8"/>
            <p:cNvSpPr txBox="true"/>
            <p:nvPr/>
          </p:nvSpPr>
          <p:spPr>
            <a:xfrm>
              <a:off x="0" y="-38100"/>
              <a:ext cx="4384684" cy="71126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803986" y="4613720"/>
            <a:ext cx="16648096" cy="1107185"/>
          </a:xfrm>
          <a:prstGeom prst="rect">
            <a:avLst/>
          </a:prstGeom>
        </p:spPr>
        <p:txBody>
          <a:bodyPr anchor="t" rtlCol="false" tIns="0" lIns="0" bIns="0" rIns="0">
            <a:spAutoFit/>
          </a:bodyPr>
          <a:lstStyle/>
          <a:p>
            <a:pPr algn="ctr">
              <a:lnSpc>
                <a:spcPts val="7751"/>
              </a:lnSpc>
            </a:pPr>
            <a:r>
              <a:rPr lang="en-US" b="true" sz="7599" spc="-341">
                <a:solidFill>
                  <a:srgbClr val="FFFFFF"/>
                </a:solidFill>
                <a:latin typeface="Telegraf Bold"/>
                <a:ea typeface="Telegraf Bold"/>
                <a:cs typeface="Telegraf Bold"/>
                <a:sym typeface="Telegraf Bold"/>
              </a:rPr>
              <a:t>Questions and Answers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054412" y="3687473"/>
            <a:ext cx="12179177" cy="2502478"/>
          </a:xfrm>
          <a:prstGeom prst="rect">
            <a:avLst/>
          </a:prstGeom>
        </p:spPr>
        <p:txBody>
          <a:bodyPr anchor="t" rtlCol="false" tIns="0" lIns="0" bIns="0" rIns="0">
            <a:spAutoFit/>
          </a:bodyPr>
          <a:lstStyle/>
          <a:p>
            <a:pPr algn="ctr">
              <a:lnSpc>
                <a:spcPts val="19302"/>
              </a:lnSpc>
              <a:spcBef>
                <a:spcPct val="0"/>
              </a:spcBef>
            </a:pPr>
            <a:r>
              <a:rPr lang="en-US" b="true" sz="13787" spc="-620">
                <a:solidFill>
                  <a:srgbClr val="FFFFFF"/>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DAGmFm61G1I</dc:identifier>
  <dcterms:modified xsi:type="dcterms:W3CDTF">2011-08-01T06:04:30Z</dcterms:modified>
  <cp:revision>1</cp:revision>
  <dc:title>Copy of Black Modern Gradient Programmer Presentation</dc:title>
</cp:coreProperties>
</file>