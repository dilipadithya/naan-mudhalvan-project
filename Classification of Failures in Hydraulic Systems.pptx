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elegraf Bold" charset="1" panose="00000800000000000000"/>
      <p:regular r:id="rId20"/>
    </p:embeddedFont>
    <p:embeddedFont>
      <p:font typeface="Poppins" charset="1" panose="00000500000000000000"/>
      <p:regular r:id="rId21"/>
    </p:embeddedFont>
    <p:embeddedFont>
      <p:font typeface="Open Sauce" charset="1" panose="00000500000000000000"/>
      <p:regular r:id="rId22"/>
    </p:embeddedFont>
    <p:embeddedFont>
      <p:font typeface="Poppins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https://archive.ics.uci.edu/dataset/447/condition+monitoring+of+hydraulic+systems"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054412" y="1695950"/>
            <a:ext cx="12179177" cy="2980332"/>
          </a:xfrm>
          <a:prstGeom prst="rect">
            <a:avLst/>
          </a:prstGeom>
        </p:spPr>
        <p:txBody>
          <a:bodyPr anchor="t" rtlCol="false" tIns="0" lIns="0" bIns="0" rIns="0">
            <a:spAutoFit/>
          </a:bodyPr>
          <a:lstStyle/>
          <a:p>
            <a:pPr algn="ctr">
              <a:lnSpc>
                <a:spcPts val="11604"/>
              </a:lnSpc>
              <a:spcBef>
                <a:spcPct val="0"/>
              </a:spcBef>
            </a:pPr>
            <a:r>
              <a:rPr lang="en-US" b="true" sz="8289" spc="-373">
                <a:solidFill>
                  <a:srgbClr val="FFFFFF"/>
                </a:solidFill>
                <a:latin typeface="Telegraf Bold"/>
                <a:ea typeface="Telegraf Bold"/>
                <a:cs typeface="Telegraf Bold"/>
                <a:sym typeface="Telegraf Bold"/>
              </a:rPr>
              <a:t>⁠Classifying Failure Types in Hydraulic Systems </a:t>
            </a:r>
          </a:p>
        </p:txBody>
      </p:sp>
      <p:sp>
        <p:nvSpPr>
          <p:cNvPr name="TextBox 7" id="7"/>
          <p:cNvSpPr txBox="true"/>
          <p:nvPr/>
        </p:nvSpPr>
        <p:spPr>
          <a:xfrm rot="0">
            <a:off x="12511960" y="7046259"/>
            <a:ext cx="4747340" cy="2204151"/>
          </a:xfrm>
          <a:prstGeom prst="rect">
            <a:avLst/>
          </a:prstGeom>
        </p:spPr>
        <p:txBody>
          <a:bodyPr anchor="t" rtlCol="false" tIns="0" lIns="0" bIns="0" rIns="0">
            <a:spAutoFit/>
          </a:bodyPr>
          <a:lstStyle/>
          <a:p>
            <a:pPr algn="r">
              <a:lnSpc>
                <a:spcPts val="3461"/>
              </a:lnSpc>
            </a:pPr>
            <a:r>
              <a:rPr lang="en-US" sz="2472">
                <a:solidFill>
                  <a:srgbClr val="FFFFFF"/>
                </a:solidFill>
                <a:latin typeface="Poppins"/>
                <a:ea typeface="Poppins"/>
                <a:cs typeface="Poppins"/>
                <a:sym typeface="Poppins"/>
              </a:rPr>
              <a:t>Nishanthi - 2023108049</a:t>
            </a:r>
          </a:p>
          <a:p>
            <a:pPr algn="r">
              <a:lnSpc>
                <a:spcPts val="3461"/>
              </a:lnSpc>
            </a:pPr>
            <a:r>
              <a:rPr lang="en-US" sz="2472">
                <a:solidFill>
                  <a:srgbClr val="FFFFFF"/>
                </a:solidFill>
                <a:latin typeface="Poppins"/>
                <a:ea typeface="Poppins"/>
                <a:cs typeface="Poppins"/>
                <a:sym typeface="Poppins"/>
              </a:rPr>
              <a:t>Mathesh - 2023108050</a:t>
            </a:r>
          </a:p>
          <a:p>
            <a:pPr algn="r">
              <a:lnSpc>
                <a:spcPts val="3461"/>
              </a:lnSpc>
            </a:pPr>
            <a:r>
              <a:rPr lang="en-US" sz="2472">
                <a:solidFill>
                  <a:srgbClr val="FFFFFF"/>
                </a:solidFill>
                <a:latin typeface="Poppins"/>
                <a:ea typeface="Poppins"/>
                <a:cs typeface="Poppins"/>
                <a:sym typeface="Poppins"/>
              </a:rPr>
              <a:t>Surya Kiran - 2023108051</a:t>
            </a:r>
          </a:p>
          <a:p>
            <a:pPr algn="r">
              <a:lnSpc>
                <a:spcPts val="3461"/>
              </a:lnSpc>
            </a:pPr>
            <a:r>
              <a:rPr lang="en-US" sz="2472">
                <a:solidFill>
                  <a:srgbClr val="FFFFFF"/>
                </a:solidFill>
                <a:latin typeface="Poppins"/>
                <a:ea typeface="Poppins"/>
                <a:cs typeface="Poppins"/>
                <a:sym typeface="Poppins"/>
              </a:rPr>
              <a:t>Samyuktha - 2023108052</a:t>
            </a:r>
          </a:p>
          <a:p>
            <a:pPr algn="r">
              <a:lnSpc>
                <a:spcPts val="3461"/>
              </a:lnSpc>
            </a:pPr>
            <a:r>
              <a:rPr lang="en-US" sz="2472">
                <a:solidFill>
                  <a:srgbClr val="FFFFFF"/>
                </a:solidFill>
                <a:latin typeface="Poppins"/>
                <a:ea typeface="Poppins"/>
                <a:cs typeface="Poppins"/>
                <a:sym typeface="Poppins"/>
              </a:rPr>
              <a:t>Dilip Adhitya - 2023108053</a:t>
            </a:r>
          </a:p>
        </p:txBody>
      </p:sp>
      <p:sp>
        <p:nvSpPr>
          <p:cNvPr name="TextBox 8" id="8"/>
          <p:cNvSpPr txBox="true"/>
          <p:nvPr/>
        </p:nvSpPr>
        <p:spPr>
          <a:xfrm rot="0">
            <a:off x="8496029" y="9002119"/>
            <a:ext cx="1274721" cy="451551"/>
          </a:xfrm>
          <a:prstGeom prst="rect">
            <a:avLst/>
          </a:prstGeom>
        </p:spPr>
        <p:txBody>
          <a:bodyPr anchor="t" rtlCol="false" tIns="0" lIns="0" bIns="0" rIns="0">
            <a:spAutoFit/>
          </a:bodyPr>
          <a:lstStyle/>
          <a:p>
            <a:pPr algn="ctr">
              <a:lnSpc>
                <a:spcPts val="3461"/>
              </a:lnSpc>
            </a:pPr>
            <a:r>
              <a:rPr lang="en-US" sz="2472">
                <a:solidFill>
                  <a:srgbClr val="FFFFFF"/>
                </a:solidFill>
                <a:latin typeface="Poppins"/>
                <a:ea typeface="Poppins"/>
                <a:cs typeface="Poppins"/>
                <a:sym typeface="Poppins"/>
              </a:rPr>
              <a:t>-</a:t>
            </a:r>
          </a:p>
        </p:txBody>
      </p:sp>
      <p:sp>
        <p:nvSpPr>
          <p:cNvPr name="TextBox 9" id="9"/>
          <p:cNvSpPr txBox="true"/>
          <p:nvPr/>
        </p:nvSpPr>
        <p:spPr>
          <a:xfrm rot="0">
            <a:off x="6759720" y="6089084"/>
            <a:ext cx="4747340" cy="451551"/>
          </a:xfrm>
          <a:prstGeom prst="rect">
            <a:avLst/>
          </a:prstGeom>
        </p:spPr>
        <p:txBody>
          <a:bodyPr anchor="t" rtlCol="false" tIns="0" lIns="0" bIns="0" rIns="0">
            <a:spAutoFit/>
          </a:bodyPr>
          <a:lstStyle/>
          <a:p>
            <a:pPr algn="ctr">
              <a:lnSpc>
                <a:spcPts val="3461"/>
              </a:lnSpc>
            </a:pPr>
            <a:r>
              <a:rPr lang="en-US" sz="2472">
                <a:solidFill>
                  <a:srgbClr val="FFFFFF"/>
                </a:solidFill>
                <a:latin typeface="Poppins"/>
                <a:ea typeface="Poppins"/>
                <a:cs typeface="Poppins"/>
                <a:sym typeface="Poppins"/>
              </a:rPr>
              <a:t>Naan Mudhalvan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2057400"/>
            <a:ext cx="11331069" cy="7499107"/>
            <a:chOff x="0" y="0"/>
            <a:chExt cx="2984315" cy="1975074"/>
          </a:xfrm>
        </p:grpSpPr>
        <p:sp>
          <p:nvSpPr>
            <p:cNvPr name="Freeform 4" id="4"/>
            <p:cNvSpPr/>
            <p:nvPr/>
          </p:nvSpPr>
          <p:spPr>
            <a:xfrm flipH="false" flipV="false" rot="0">
              <a:off x="0" y="0"/>
              <a:ext cx="2984315" cy="1975074"/>
            </a:xfrm>
            <a:custGeom>
              <a:avLst/>
              <a:gdLst/>
              <a:ahLst/>
              <a:cxnLst/>
              <a:rect r="r" b="b" t="t" l="l"/>
              <a:pathLst>
                <a:path h="1975074" w="2984315">
                  <a:moveTo>
                    <a:pt x="38262" y="0"/>
                  </a:moveTo>
                  <a:lnTo>
                    <a:pt x="2946053" y="0"/>
                  </a:lnTo>
                  <a:cubicBezTo>
                    <a:pt x="2956200" y="0"/>
                    <a:pt x="2965933" y="4031"/>
                    <a:pt x="2973108" y="11207"/>
                  </a:cubicBezTo>
                  <a:cubicBezTo>
                    <a:pt x="2980283" y="18382"/>
                    <a:pt x="2984315" y="28114"/>
                    <a:pt x="2984315" y="38262"/>
                  </a:cubicBezTo>
                  <a:lnTo>
                    <a:pt x="2984315" y="1936812"/>
                  </a:lnTo>
                  <a:cubicBezTo>
                    <a:pt x="2984315" y="1957943"/>
                    <a:pt x="2967184" y="1975074"/>
                    <a:pt x="2946053" y="1975074"/>
                  </a:cubicBezTo>
                  <a:lnTo>
                    <a:pt x="38262" y="1975074"/>
                  </a:lnTo>
                  <a:cubicBezTo>
                    <a:pt x="28114" y="1975074"/>
                    <a:pt x="18382" y="1971042"/>
                    <a:pt x="11207" y="1963867"/>
                  </a:cubicBezTo>
                  <a:cubicBezTo>
                    <a:pt x="4031" y="1956691"/>
                    <a:pt x="0" y="1946959"/>
                    <a:pt x="0" y="1936812"/>
                  </a:cubicBezTo>
                  <a:lnTo>
                    <a:pt x="0" y="38262"/>
                  </a:lnTo>
                  <a:cubicBezTo>
                    <a:pt x="0" y="28114"/>
                    <a:pt x="4031" y="18382"/>
                    <a:pt x="11207" y="11207"/>
                  </a:cubicBezTo>
                  <a:cubicBezTo>
                    <a:pt x="18382" y="4031"/>
                    <a:pt x="28114" y="0"/>
                    <a:pt x="38262"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2984315" cy="2041749"/>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12702196" y="6825024"/>
            <a:ext cx="4797767" cy="2731483"/>
            <a:chOff x="0" y="0"/>
            <a:chExt cx="1263610" cy="719403"/>
          </a:xfrm>
        </p:grpSpPr>
        <p:sp>
          <p:nvSpPr>
            <p:cNvPr name="Freeform 7" id="7"/>
            <p:cNvSpPr/>
            <p:nvPr/>
          </p:nvSpPr>
          <p:spPr>
            <a:xfrm flipH="false" flipV="false" rot="0">
              <a:off x="0" y="0"/>
              <a:ext cx="1263609" cy="719403"/>
            </a:xfrm>
            <a:custGeom>
              <a:avLst/>
              <a:gdLst/>
              <a:ahLst/>
              <a:cxnLst/>
              <a:rect r="r" b="b" t="t" l="l"/>
              <a:pathLst>
                <a:path h="719403" w="1263609">
                  <a:moveTo>
                    <a:pt x="90364" y="0"/>
                  </a:moveTo>
                  <a:lnTo>
                    <a:pt x="1173245" y="0"/>
                  </a:lnTo>
                  <a:cubicBezTo>
                    <a:pt x="1223152" y="0"/>
                    <a:pt x="1263609" y="40458"/>
                    <a:pt x="1263609" y="90364"/>
                  </a:cubicBezTo>
                  <a:lnTo>
                    <a:pt x="1263609" y="629039"/>
                  </a:lnTo>
                  <a:cubicBezTo>
                    <a:pt x="1263609" y="653005"/>
                    <a:pt x="1254089" y="675989"/>
                    <a:pt x="1237142" y="692936"/>
                  </a:cubicBezTo>
                  <a:cubicBezTo>
                    <a:pt x="1220196" y="709883"/>
                    <a:pt x="1197211" y="719403"/>
                    <a:pt x="1173245" y="719403"/>
                  </a:cubicBezTo>
                  <a:lnTo>
                    <a:pt x="90364" y="719403"/>
                  </a:lnTo>
                  <a:cubicBezTo>
                    <a:pt x="40458" y="719403"/>
                    <a:pt x="0" y="678946"/>
                    <a:pt x="0" y="629039"/>
                  </a:cubicBezTo>
                  <a:lnTo>
                    <a:pt x="0" y="90364"/>
                  </a:lnTo>
                  <a:cubicBezTo>
                    <a:pt x="0" y="40458"/>
                    <a:pt x="40458" y="0"/>
                    <a:pt x="90364"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8" id="8"/>
            <p:cNvSpPr txBox="true"/>
            <p:nvPr/>
          </p:nvSpPr>
          <p:spPr>
            <a:xfrm>
              <a:off x="0" y="-66675"/>
              <a:ext cx="1263610" cy="786078"/>
            </a:xfrm>
            <a:prstGeom prst="rect">
              <a:avLst/>
            </a:prstGeom>
          </p:spPr>
          <p:txBody>
            <a:bodyPr anchor="ctr" rtlCol="false" tIns="50800" lIns="50800" bIns="50800" rIns="50800"/>
            <a:lstStyle/>
            <a:p>
              <a:pPr algn="ctr">
                <a:lnSpc>
                  <a:spcPts val="3151"/>
                </a:lnSpc>
              </a:pPr>
            </a:p>
          </p:txBody>
        </p:sp>
      </p:grpSp>
      <p:grpSp>
        <p:nvGrpSpPr>
          <p:cNvPr name="Group 9" id="9"/>
          <p:cNvGrpSpPr/>
          <p:nvPr/>
        </p:nvGrpSpPr>
        <p:grpSpPr>
          <a:xfrm rot="0">
            <a:off x="12702196" y="2057400"/>
            <a:ext cx="4797767" cy="4166571"/>
            <a:chOff x="0" y="0"/>
            <a:chExt cx="743300" cy="645511"/>
          </a:xfrm>
        </p:grpSpPr>
        <p:sp>
          <p:nvSpPr>
            <p:cNvPr name="Freeform 10" id="10"/>
            <p:cNvSpPr/>
            <p:nvPr/>
          </p:nvSpPr>
          <p:spPr>
            <a:xfrm flipH="false" flipV="false" rot="0">
              <a:off x="0" y="0"/>
              <a:ext cx="743300" cy="645511"/>
            </a:xfrm>
            <a:custGeom>
              <a:avLst/>
              <a:gdLst/>
              <a:ahLst/>
              <a:cxnLst/>
              <a:rect r="r" b="b" t="t" l="l"/>
              <a:pathLst>
                <a:path h="645511" w="743300">
                  <a:moveTo>
                    <a:pt x="90364" y="0"/>
                  </a:moveTo>
                  <a:lnTo>
                    <a:pt x="652935" y="0"/>
                  </a:lnTo>
                  <a:cubicBezTo>
                    <a:pt x="702842" y="0"/>
                    <a:pt x="743300" y="40458"/>
                    <a:pt x="743300" y="90364"/>
                  </a:cubicBezTo>
                  <a:lnTo>
                    <a:pt x="743300" y="555146"/>
                  </a:lnTo>
                  <a:cubicBezTo>
                    <a:pt x="743300" y="605053"/>
                    <a:pt x="702842" y="645511"/>
                    <a:pt x="652935" y="645511"/>
                  </a:cubicBezTo>
                  <a:lnTo>
                    <a:pt x="90364" y="645511"/>
                  </a:lnTo>
                  <a:cubicBezTo>
                    <a:pt x="66398" y="645511"/>
                    <a:pt x="43414" y="635990"/>
                    <a:pt x="26467" y="619044"/>
                  </a:cubicBezTo>
                  <a:cubicBezTo>
                    <a:pt x="9521" y="602097"/>
                    <a:pt x="0" y="579113"/>
                    <a:pt x="0" y="555146"/>
                  </a:cubicBezTo>
                  <a:lnTo>
                    <a:pt x="0" y="90364"/>
                  </a:lnTo>
                  <a:cubicBezTo>
                    <a:pt x="0" y="40458"/>
                    <a:pt x="40458" y="0"/>
                    <a:pt x="90364" y="0"/>
                  </a:cubicBezTo>
                  <a:close/>
                </a:path>
              </a:pathLst>
            </a:custGeom>
            <a:blipFill>
              <a:blip r:embed="rId4"/>
              <a:stretch>
                <a:fillRect l="-21327" t="0" r="-21327" b="-9442"/>
              </a:stretch>
            </a:blipFill>
          </p:spPr>
        </p:sp>
      </p:grpSp>
      <p:sp>
        <p:nvSpPr>
          <p:cNvPr name="TextBox 11" id="11"/>
          <p:cNvSpPr txBox="true"/>
          <p:nvPr/>
        </p:nvSpPr>
        <p:spPr>
          <a:xfrm rot="0">
            <a:off x="1726346" y="5478037"/>
            <a:ext cx="10144571" cy="30702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Poppins"/>
                <a:ea typeface="Poppins"/>
                <a:cs typeface="Poppins"/>
                <a:sym typeface="Poppins"/>
              </a:rPr>
              <a:t>The task is to predict failure types in hydraulic systems using operational data.</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We aim to classify failure types (e.g., Overheat, Low Fluid, Mechanical) based on features such as material thickness, pressure applied, temperature, and other operational data.</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The dataset for this project contains 2200 records.</a:t>
            </a:r>
          </a:p>
          <a:p>
            <a:pPr algn="just">
              <a:lnSpc>
                <a:spcPts val="3499"/>
              </a:lnSpc>
            </a:pPr>
          </a:p>
        </p:txBody>
      </p:sp>
      <p:sp>
        <p:nvSpPr>
          <p:cNvPr name="TextBox 12" id="12"/>
          <p:cNvSpPr txBox="true"/>
          <p:nvPr/>
        </p:nvSpPr>
        <p:spPr>
          <a:xfrm rot="0">
            <a:off x="1726346" y="2974397"/>
            <a:ext cx="7719401" cy="2169103"/>
          </a:xfrm>
          <a:prstGeom prst="rect">
            <a:avLst/>
          </a:prstGeom>
        </p:spPr>
        <p:txBody>
          <a:bodyPr anchor="t" rtlCol="false" tIns="0" lIns="0" bIns="0" rIns="0">
            <a:spAutoFit/>
          </a:bodyPr>
          <a:lstStyle/>
          <a:p>
            <a:pPr algn="l">
              <a:lnSpc>
                <a:spcPts val="8077"/>
              </a:lnSpc>
            </a:pPr>
            <a:r>
              <a:rPr lang="en-US" sz="7919" spc="-356" b="true">
                <a:solidFill>
                  <a:srgbClr val="FFFFFF"/>
                </a:solidFill>
                <a:latin typeface="Telegraf Bold"/>
                <a:ea typeface="Telegraf Bold"/>
                <a:cs typeface="Telegraf Bold"/>
                <a:sym typeface="Telegraf Bold"/>
              </a:rPr>
              <a:t>Problem Statement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00921" y="1986280"/>
            <a:ext cx="10876417" cy="7467954"/>
            <a:chOff x="0" y="0"/>
            <a:chExt cx="2864571" cy="1966869"/>
          </a:xfrm>
        </p:grpSpPr>
        <p:sp>
          <p:nvSpPr>
            <p:cNvPr name="Freeform 4" id="4"/>
            <p:cNvSpPr/>
            <p:nvPr/>
          </p:nvSpPr>
          <p:spPr>
            <a:xfrm flipH="false" flipV="false" rot="0">
              <a:off x="0" y="0"/>
              <a:ext cx="2864571" cy="1966869"/>
            </a:xfrm>
            <a:custGeom>
              <a:avLst/>
              <a:gdLst/>
              <a:ahLst/>
              <a:cxnLst/>
              <a:rect r="r" b="b" t="t" l="l"/>
              <a:pathLst>
                <a:path h="1966869" w="2864571">
                  <a:moveTo>
                    <a:pt x="39861" y="0"/>
                  </a:moveTo>
                  <a:lnTo>
                    <a:pt x="2824709" y="0"/>
                  </a:lnTo>
                  <a:cubicBezTo>
                    <a:pt x="2835281" y="0"/>
                    <a:pt x="2845420" y="4200"/>
                    <a:pt x="2852896" y="11675"/>
                  </a:cubicBezTo>
                  <a:cubicBezTo>
                    <a:pt x="2860371" y="19151"/>
                    <a:pt x="2864571" y="29289"/>
                    <a:pt x="2864571" y="39861"/>
                  </a:cubicBezTo>
                  <a:lnTo>
                    <a:pt x="2864571" y="1927007"/>
                  </a:lnTo>
                  <a:cubicBezTo>
                    <a:pt x="2864571" y="1949022"/>
                    <a:pt x="2846724" y="1966869"/>
                    <a:pt x="2824709" y="1966869"/>
                  </a:cubicBezTo>
                  <a:lnTo>
                    <a:pt x="39861" y="1966869"/>
                  </a:lnTo>
                  <a:cubicBezTo>
                    <a:pt x="17846" y="1966869"/>
                    <a:pt x="0" y="1949022"/>
                    <a:pt x="0" y="1927007"/>
                  </a:cubicBezTo>
                  <a:lnTo>
                    <a:pt x="0" y="39861"/>
                  </a:lnTo>
                  <a:cubicBezTo>
                    <a:pt x="0" y="17846"/>
                    <a:pt x="17846" y="0"/>
                    <a:pt x="39861"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2864571" cy="2033544"/>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803986" y="1986280"/>
            <a:ext cx="5264882" cy="7467954"/>
            <a:chOff x="0" y="0"/>
            <a:chExt cx="1386636" cy="1966869"/>
          </a:xfrm>
        </p:grpSpPr>
        <p:sp>
          <p:nvSpPr>
            <p:cNvPr name="Freeform 7" id="7"/>
            <p:cNvSpPr/>
            <p:nvPr/>
          </p:nvSpPr>
          <p:spPr>
            <a:xfrm flipH="false" flipV="false" rot="0">
              <a:off x="0" y="0"/>
              <a:ext cx="1386636" cy="1966869"/>
            </a:xfrm>
            <a:custGeom>
              <a:avLst/>
              <a:gdLst/>
              <a:ahLst/>
              <a:cxnLst/>
              <a:rect r="r" b="b" t="t" l="l"/>
              <a:pathLst>
                <a:path h="1966869" w="1386636">
                  <a:moveTo>
                    <a:pt x="82347" y="0"/>
                  </a:moveTo>
                  <a:lnTo>
                    <a:pt x="1304289" y="0"/>
                  </a:lnTo>
                  <a:cubicBezTo>
                    <a:pt x="1349768" y="0"/>
                    <a:pt x="1386636" y="36868"/>
                    <a:pt x="1386636" y="82347"/>
                  </a:cubicBezTo>
                  <a:lnTo>
                    <a:pt x="1386636" y="1884521"/>
                  </a:lnTo>
                  <a:cubicBezTo>
                    <a:pt x="1386636" y="1906361"/>
                    <a:pt x="1377960" y="1927307"/>
                    <a:pt x="1362517" y="1942750"/>
                  </a:cubicBezTo>
                  <a:cubicBezTo>
                    <a:pt x="1347074" y="1958193"/>
                    <a:pt x="1326128" y="1966869"/>
                    <a:pt x="1304289" y="1966869"/>
                  </a:cubicBezTo>
                  <a:lnTo>
                    <a:pt x="82347" y="1966869"/>
                  </a:lnTo>
                  <a:cubicBezTo>
                    <a:pt x="60507" y="1966869"/>
                    <a:pt x="39562" y="1958193"/>
                    <a:pt x="24119" y="1942750"/>
                  </a:cubicBezTo>
                  <a:cubicBezTo>
                    <a:pt x="8676" y="1927307"/>
                    <a:pt x="0" y="1906361"/>
                    <a:pt x="0" y="1884521"/>
                  </a:cubicBezTo>
                  <a:lnTo>
                    <a:pt x="0" y="82347"/>
                  </a:lnTo>
                  <a:cubicBezTo>
                    <a:pt x="0" y="60507"/>
                    <a:pt x="8676" y="39562"/>
                    <a:pt x="24119" y="24119"/>
                  </a:cubicBezTo>
                  <a:cubicBezTo>
                    <a:pt x="39562" y="8676"/>
                    <a:pt x="60507" y="0"/>
                    <a:pt x="82347"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8" id="8"/>
            <p:cNvSpPr txBox="true"/>
            <p:nvPr/>
          </p:nvSpPr>
          <p:spPr>
            <a:xfrm>
              <a:off x="0" y="-66675"/>
              <a:ext cx="1386636" cy="2033544"/>
            </a:xfrm>
            <a:prstGeom prst="rect">
              <a:avLst/>
            </a:prstGeom>
          </p:spPr>
          <p:txBody>
            <a:bodyPr anchor="ctr" rtlCol="false" tIns="50800" lIns="50800" bIns="50800" rIns="50800"/>
            <a:lstStyle/>
            <a:p>
              <a:pPr algn="ctr">
                <a:lnSpc>
                  <a:spcPts val="3151"/>
                </a:lnSpc>
              </a:pPr>
            </a:p>
          </p:txBody>
        </p:sp>
      </p:grpSp>
      <p:sp>
        <p:nvSpPr>
          <p:cNvPr name="Freeform 9" id="9"/>
          <p:cNvSpPr/>
          <p:nvPr/>
        </p:nvSpPr>
        <p:spPr>
          <a:xfrm flipH="false" flipV="false" rot="0">
            <a:off x="2004417" y="5720257"/>
            <a:ext cx="2831507" cy="2831507"/>
          </a:xfrm>
          <a:custGeom>
            <a:avLst/>
            <a:gdLst/>
            <a:ahLst/>
            <a:cxnLst/>
            <a:rect r="r" b="b" t="t" l="l"/>
            <a:pathLst>
              <a:path h="2831507" w="2831507">
                <a:moveTo>
                  <a:pt x="0" y="0"/>
                </a:moveTo>
                <a:lnTo>
                  <a:pt x="2831507" y="0"/>
                </a:lnTo>
                <a:lnTo>
                  <a:pt x="2831507" y="2831507"/>
                </a:lnTo>
                <a:lnTo>
                  <a:pt x="0" y="28315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7655160" y="4933912"/>
            <a:ext cx="8967939" cy="3946525"/>
          </a:xfrm>
          <a:prstGeom prst="rect">
            <a:avLst/>
          </a:prstGeom>
        </p:spPr>
        <p:txBody>
          <a:bodyPr anchor="t" rtlCol="false" tIns="0" lIns="0" bIns="0" rIns="0">
            <a:spAutoFit/>
          </a:bodyPr>
          <a:lstStyle/>
          <a:p>
            <a:pPr algn="just" marL="539749" indent="-269875" lvl="1">
              <a:lnSpc>
                <a:spcPts val="3499"/>
              </a:lnSpc>
              <a:buFont typeface="Arial"/>
              <a:buChar char="•"/>
            </a:pPr>
            <a:r>
              <a:rPr lang="en-US" sz="2499">
                <a:solidFill>
                  <a:srgbClr val="FFFFFF"/>
                </a:solidFill>
                <a:latin typeface="Poppins"/>
                <a:ea typeface="Poppins"/>
                <a:cs typeface="Poppins"/>
                <a:sym typeface="Poppins"/>
              </a:rPr>
              <a:t>Dataset: </a:t>
            </a:r>
            <a:r>
              <a:rPr lang="en-US" sz="2499" u="sng">
                <a:solidFill>
                  <a:srgbClr val="FFFFFF"/>
                </a:solidFill>
                <a:latin typeface="Poppins"/>
                <a:ea typeface="Poppins"/>
                <a:cs typeface="Poppins"/>
                <a:sym typeface="Poppins"/>
                <a:hlinkClick r:id="rId6" tooltip="https://archive.ics.uci.edu/dataset/447/condition+monitoring+of+hydraulic+systems"/>
              </a:rPr>
              <a:t>Condition Monitoring of Hydraulic Systems</a:t>
            </a:r>
          </a:p>
          <a:p>
            <a:pPr algn="just" marL="539749" indent="-269875" lvl="1">
              <a:lnSpc>
                <a:spcPts val="3499"/>
              </a:lnSpc>
              <a:buFont typeface="Arial"/>
              <a:buChar char="•"/>
            </a:pPr>
            <a:r>
              <a:rPr lang="en-US" sz="2499" u="sng">
                <a:solidFill>
                  <a:srgbClr val="FFFFFF"/>
                </a:solidFill>
                <a:latin typeface="Poppins"/>
                <a:ea typeface="Poppins"/>
                <a:cs typeface="Poppins"/>
                <a:sym typeface="Poppins"/>
              </a:rPr>
              <a:t>From : UCI mlr</a:t>
            </a:r>
          </a:p>
          <a:p>
            <a:pPr algn="just" marL="539749" indent="-269875" lvl="1">
              <a:lnSpc>
                <a:spcPts val="3499"/>
              </a:lnSpc>
              <a:buFont typeface="Arial"/>
              <a:buChar char="•"/>
            </a:pPr>
            <a:r>
              <a:rPr lang="en-US" sz="2499">
                <a:solidFill>
                  <a:srgbClr val="FFFFFF"/>
                </a:solidFill>
                <a:latin typeface="Poppins"/>
                <a:ea typeface="Poppins"/>
                <a:cs typeface="Poppins"/>
                <a:sym typeface="Poppins"/>
              </a:rPr>
              <a:t>Description: This dataset includes information about the condition of hydraulic systems used in various industries. It contains features such as pressure, temperature, fluid level, vibration, and more, to monitor the health of the hydraulic system and predict potential failures.</a:t>
            </a:r>
          </a:p>
          <a:p>
            <a:pPr algn="just">
              <a:lnSpc>
                <a:spcPts val="3499"/>
              </a:lnSpc>
            </a:pPr>
          </a:p>
        </p:txBody>
      </p:sp>
      <p:sp>
        <p:nvSpPr>
          <p:cNvPr name="TextBox 11" id="11"/>
          <p:cNvSpPr txBox="true"/>
          <p:nvPr/>
        </p:nvSpPr>
        <p:spPr>
          <a:xfrm rot="0">
            <a:off x="1363845" y="2439110"/>
            <a:ext cx="3472079" cy="2561477"/>
          </a:xfrm>
          <a:prstGeom prst="rect">
            <a:avLst/>
          </a:prstGeom>
        </p:spPr>
        <p:txBody>
          <a:bodyPr anchor="t" rtlCol="false" tIns="0" lIns="0" bIns="0" rIns="0">
            <a:spAutoFit/>
          </a:bodyPr>
          <a:lstStyle/>
          <a:p>
            <a:pPr algn="just">
              <a:lnSpc>
                <a:spcPts val="6866"/>
              </a:lnSpc>
            </a:pPr>
            <a:r>
              <a:rPr lang="en-US" sz="4904" spc="-215">
                <a:solidFill>
                  <a:srgbClr val="FFFFFF"/>
                </a:solidFill>
                <a:latin typeface="Open Sauce"/>
                <a:ea typeface="Open Sauce"/>
                <a:cs typeface="Open Sauce"/>
                <a:sym typeface="Open Sauce"/>
              </a:rPr>
              <a:t>From Early Algorithms to Modern</a:t>
            </a:r>
          </a:p>
        </p:txBody>
      </p:sp>
      <p:sp>
        <p:nvSpPr>
          <p:cNvPr name="TextBox 12" id="12"/>
          <p:cNvSpPr txBox="true"/>
          <p:nvPr/>
        </p:nvSpPr>
        <p:spPr>
          <a:xfrm rot="0">
            <a:off x="7655160" y="2509535"/>
            <a:ext cx="9315752" cy="2192656"/>
          </a:xfrm>
          <a:prstGeom prst="rect">
            <a:avLst/>
          </a:prstGeom>
        </p:spPr>
        <p:txBody>
          <a:bodyPr anchor="t" rtlCol="false" tIns="0" lIns="0" bIns="0" rIns="0">
            <a:spAutoFit/>
          </a:bodyPr>
          <a:lstStyle/>
          <a:p>
            <a:pPr algn="l">
              <a:lnSpc>
                <a:spcPts val="8160"/>
              </a:lnSpc>
            </a:pPr>
            <a:r>
              <a:rPr lang="en-US" sz="8000" spc="-360" b="true">
                <a:solidFill>
                  <a:srgbClr val="FFFFFF"/>
                </a:solidFill>
                <a:latin typeface="Telegraf Bold"/>
                <a:ea typeface="Telegraf Bold"/>
                <a:cs typeface="Telegraf Bold"/>
                <a:sym typeface="Telegraf Bold"/>
              </a:rPr>
              <a:t>Dataset Introduction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16233478" cy="5849788"/>
            <a:chOff x="0" y="0"/>
            <a:chExt cx="4275484" cy="1540685"/>
          </a:xfrm>
        </p:grpSpPr>
        <p:sp>
          <p:nvSpPr>
            <p:cNvPr name="Freeform 4" id="4"/>
            <p:cNvSpPr/>
            <p:nvPr/>
          </p:nvSpPr>
          <p:spPr>
            <a:xfrm flipH="false" flipV="false" rot="0">
              <a:off x="0" y="0"/>
              <a:ext cx="4275484" cy="1540685"/>
            </a:xfrm>
            <a:custGeom>
              <a:avLst/>
              <a:gdLst/>
              <a:ahLst/>
              <a:cxnLst/>
              <a:rect r="r" b="b" t="t" l="l"/>
              <a:pathLst>
                <a:path h="1540685" w="4275484">
                  <a:moveTo>
                    <a:pt x="26707" y="0"/>
                  </a:moveTo>
                  <a:lnTo>
                    <a:pt x="4248777" y="0"/>
                  </a:lnTo>
                  <a:cubicBezTo>
                    <a:pt x="4263527" y="0"/>
                    <a:pt x="4275484" y="11957"/>
                    <a:pt x="4275484" y="26707"/>
                  </a:cubicBezTo>
                  <a:lnTo>
                    <a:pt x="4275484" y="1513978"/>
                  </a:lnTo>
                  <a:cubicBezTo>
                    <a:pt x="4275484" y="1521061"/>
                    <a:pt x="4272670" y="1527854"/>
                    <a:pt x="4267662" y="1532863"/>
                  </a:cubicBezTo>
                  <a:cubicBezTo>
                    <a:pt x="4262653" y="1537871"/>
                    <a:pt x="4255860" y="1540685"/>
                    <a:pt x="4248777" y="1540685"/>
                  </a:cubicBezTo>
                  <a:lnTo>
                    <a:pt x="26707" y="1540685"/>
                  </a:lnTo>
                  <a:cubicBezTo>
                    <a:pt x="11957" y="1540685"/>
                    <a:pt x="0" y="1528728"/>
                    <a:pt x="0" y="1513978"/>
                  </a:cubicBezTo>
                  <a:lnTo>
                    <a:pt x="0" y="26707"/>
                  </a:lnTo>
                  <a:cubicBezTo>
                    <a:pt x="0" y="19624"/>
                    <a:pt x="2814" y="12831"/>
                    <a:pt x="7822" y="7822"/>
                  </a:cubicBezTo>
                  <a:cubicBezTo>
                    <a:pt x="12831" y="2814"/>
                    <a:pt x="19624" y="0"/>
                    <a:pt x="26707"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4275484" cy="1607360"/>
            </a:xfrm>
            <a:prstGeom prst="rect">
              <a:avLst/>
            </a:prstGeom>
          </p:spPr>
          <p:txBody>
            <a:bodyPr anchor="ctr" rtlCol="false" tIns="50800" lIns="50800" bIns="50800" rIns="50800"/>
            <a:lstStyle/>
            <a:p>
              <a:pPr algn="ctr">
                <a:lnSpc>
                  <a:spcPts val="3151"/>
                </a:lnSpc>
              </a:pPr>
            </a:p>
          </p:txBody>
        </p:sp>
      </p:grpSp>
      <p:sp>
        <p:nvSpPr>
          <p:cNvPr name="TextBox 6" id="6"/>
          <p:cNvSpPr txBox="true"/>
          <p:nvPr/>
        </p:nvSpPr>
        <p:spPr>
          <a:xfrm rot="0">
            <a:off x="2849084" y="4600545"/>
            <a:ext cx="12586955" cy="1143061"/>
          </a:xfrm>
          <a:prstGeom prst="rect">
            <a:avLst/>
          </a:prstGeom>
        </p:spPr>
        <p:txBody>
          <a:bodyPr anchor="t" rtlCol="false" tIns="0" lIns="0" bIns="0" rIns="0">
            <a:spAutoFit/>
          </a:bodyPr>
          <a:lstStyle/>
          <a:p>
            <a:pPr algn="ctr">
              <a:lnSpc>
                <a:spcPts val="8077"/>
              </a:lnSpc>
            </a:pPr>
            <a:r>
              <a:rPr lang="en-US" b="true" sz="7919" spc="-356">
                <a:solidFill>
                  <a:srgbClr val="FFFFFF"/>
                </a:solidFill>
                <a:latin typeface="Telegraf Bold"/>
                <a:ea typeface="Telegraf Bold"/>
                <a:cs typeface="Telegraf Bold"/>
                <a:sym typeface="Telegraf Bold"/>
              </a:rPr>
              <a:t>Charts from Data Analysis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5438633" cy="5849788"/>
            <a:chOff x="0" y="0"/>
            <a:chExt cx="1432397" cy="1540685"/>
          </a:xfrm>
        </p:grpSpPr>
        <p:sp>
          <p:nvSpPr>
            <p:cNvPr name="Freeform 4" id="4"/>
            <p:cNvSpPr/>
            <p:nvPr/>
          </p:nvSpPr>
          <p:spPr>
            <a:xfrm flipH="false" flipV="false" rot="0">
              <a:off x="0" y="0"/>
              <a:ext cx="1432397" cy="1540685"/>
            </a:xfrm>
            <a:custGeom>
              <a:avLst/>
              <a:gdLst/>
              <a:ahLst/>
              <a:cxnLst/>
              <a:rect r="r" b="b" t="t" l="l"/>
              <a:pathLst>
                <a:path h="1540685" w="1432397">
                  <a:moveTo>
                    <a:pt x="79716" y="0"/>
                  </a:moveTo>
                  <a:lnTo>
                    <a:pt x="1352681" y="0"/>
                  </a:lnTo>
                  <a:cubicBezTo>
                    <a:pt x="1373823" y="0"/>
                    <a:pt x="1394099" y="8399"/>
                    <a:pt x="1409049" y="23348"/>
                  </a:cubicBezTo>
                  <a:cubicBezTo>
                    <a:pt x="1423998" y="38298"/>
                    <a:pt x="1432397" y="58574"/>
                    <a:pt x="1432397" y="79716"/>
                  </a:cubicBezTo>
                  <a:lnTo>
                    <a:pt x="1432397" y="1460969"/>
                  </a:lnTo>
                  <a:cubicBezTo>
                    <a:pt x="1432397" y="1482111"/>
                    <a:pt x="1423998" y="1502387"/>
                    <a:pt x="1409049" y="1517337"/>
                  </a:cubicBezTo>
                  <a:cubicBezTo>
                    <a:pt x="1394099" y="1532286"/>
                    <a:pt x="1373823" y="1540685"/>
                    <a:pt x="1352681" y="1540685"/>
                  </a:cubicBezTo>
                  <a:lnTo>
                    <a:pt x="79716" y="1540685"/>
                  </a:lnTo>
                  <a:cubicBezTo>
                    <a:pt x="58574" y="1540685"/>
                    <a:pt x="38298" y="1532286"/>
                    <a:pt x="23348" y="1517337"/>
                  </a:cubicBezTo>
                  <a:cubicBezTo>
                    <a:pt x="8399" y="1502387"/>
                    <a:pt x="0" y="1482111"/>
                    <a:pt x="0" y="1460969"/>
                  </a:cubicBezTo>
                  <a:lnTo>
                    <a:pt x="0" y="79716"/>
                  </a:lnTo>
                  <a:cubicBezTo>
                    <a:pt x="0" y="58574"/>
                    <a:pt x="8399" y="38298"/>
                    <a:pt x="23348" y="23348"/>
                  </a:cubicBezTo>
                  <a:cubicBezTo>
                    <a:pt x="38298" y="8399"/>
                    <a:pt x="58574" y="0"/>
                    <a:pt x="7971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432397" cy="1607360"/>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6856794" y="1417411"/>
            <a:ext cx="10402506" cy="7840889"/>
          </a:xfrm>
          <a:custGeom>
            <a:avLst/>
            <a:gdLst/>
            <a:ahLst/>
            <a:cxnLst/>
            <a:rect r="r" b="b" t="t" l="l"/>
            <a:pathLst>
              <a:path h="7840889" w="10402506">
                <a:moveTo>
                  <a:pt x="0" y="0"/>
                </a:moveTo>
                <a:lnTo>
                  <a:pt x="10402506" y="0"/>
                </a:lnTo>
                <a:lnTo>
                  <a:pt x="10402506" y="7840889"/>
                </a:lnTo>
                <a:lnTo>
                  <a:pt x="0" y="7840889"/>
                </a:lnTo>
                <a:lnTo>
                  <a:pt x="0" y="0"/>
                </a:lnTo>
                <a:close/>
              </a:path>
            </a:pathLst>
          </a:custGeom>
          <a:blipFill>
            <a:blip r:embed="rId4"/>
            <a:stretch>
              <a:fillRect l="0" t="0" r="0" b="0"/>
            </a:stretch>
          </a:blipFill>
        </p:spPr>
      </p:sp>
      <p:sp>
        <p:nvSpPr>
          <p:cNvPr name="TextBox 7" id="7"/>
          <p:cNvSpPr txBox="true"/>
          <p:nvPr/>
        </p:nvSpPr>
        <p:spPr>
          <a:xfrm rot="0">
            <a:off x="1442706" y="3441700"/>
            <a:ext cx="4604866" cy="3289301"/>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Heatmap:</a:t>
            </a:r>
            <a:r>
              <a:rPr lang="en-US" sz="3999" b="true">
                <a:solidFill>
                  <a:srgbClr val="FFFFFF"/>
                </a:solidFill>
                <a:latin typeface="Poppins Bold"/>
                <a:ea typeface="Poppins Bold"/>
                <a:cs typeface="Poppins Bold"/>
                <a:sym typeface="Poppins Bold"/>
              </a:rPr>
              <a:t> Correlation between numeric features</a:t>
            </a:r>
          </a:p>
          <a:p>
            <a:pPr algn="just">
              <a:lnSpc>
                <a:spcPts val="349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5438633" cy="5849788"/>
            <a:chOff x="0" y="0"/>
            <a:chExt cx="1432397" cy="1540685"/>
          </a:xfrm>
        </p:grpSpPr>
        <p:sp>
          <p:nvSpPr>
            <p:cNvPr name="Freeform 4" id="4"/>
            <p:cNvSpPr/>
            <p:nvPr/>
          </p:nvSpPr>
          <p:spPr>
            <a:xfrm flipH="false" flipV="false" rot="0">
              <a:off x="0" y="0"/>
              <a:ext cx="1432397" cy="1540685"/>
            </a:xfrm>
            <a:custGeom>
              <a:avLst/>
              <a:gdLst/>
              <a:ahLst/>
              <a:cxnLst/>
              <a:rect r="r" b="b" t="t" l="l"/>
              <a:pathLst>
                <a:path h="1540685" w="1432397">
                  <a:moveTo>
                    <a:pt x="79716" y="0"/>
                  </a:moveTo>
                  <a:lnTo>
                    <a:pt x="1352681" y="0"/>
                  </a:lnTo>
                  <a:cubicBezTo>
                    <a:pt x="1373823" y="0"/>
                    <a:pt x="1394099" y="8399"/>
                    <a:pt x="1409049" y="23348"/>
                  </a:cubicBezTo>
                  <a:cubicBezTo>
                    <a:pt x="1423998" y="38298"/>
                    <a:pt x="1432397" y="58574"/>
                    <a:pt x="1432397" y="79716"/>
                  </a:cubicBezTo>
                  <a:lnTo>
                    <a:pt x="1432397" y="1460969"/>
                  </a:lnTo>
                  <a:cubicBezTo>
                    <a:pt x="1432397" y="1482111"/>
                    <a:pt x="1423998" y="1502387"/>
                    <a:pt x="1409049" y="1517337"/>
                  </a:cubicBezTo>
                  <a:cubicBezTo>
                    <a:pt x="1394099" y="1532286"/>
                    <a:pt x="1373823" y="1540685"/>
                    <a:pt x="1352681" y="1540685"/>
                  </a:cubicBezTo>
                  <a:lnTo>
                    <a:pt x="79716" y="1540685"/>
                  </a:lnTo>
                  <a:cubicBezTo>
                    <a:pt x="58574" y="1540685"/>
                    <a:pt x="38298" y="1532286"/>
                    <a:pt x="23348" y="1517337"/>
                  </a:cubicBezTo>
                  <a:cubicBezTo>
                    <a:pt x="8399" y="1502387"/>
                    <a:pt x="0" y="1482111"/>
                    <a:pt x="0" y="1460969"/>
                  </a:cubicBezTo>
                  <a:lnTo>
                    <a:pt x="0" y="79716"/>
                  </a:lnTo>
                  <a:cubicBezTo>
                    <a:pt x="0" y="58574"/>
                    <a:pt x="8399" y="38298"/>
                    <a:pt x="23348" y="23348"/>
                  </a:cubicBezTo>
                  <a:cubicBezTo>
                    <a:pt x="38298" y="8399"/>
                    <a:pt x="58574" y="0"/>
                    <a:pt x="7971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432397" cy="1607360"/>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7557572" y="1908328"/>
            <a:ext cx="9916236" cy="6470344"/>
          </a:xfrm>
          <a:custGeom>
            <a:avLst/>
            <a:gdLst/>
            <a:ahLst/>
            <a:cxnLst/>
            <a:rect r="r" b="b" t="t" l="l"/>
            <a:pathLst>
              <a:path h="6470344" w="9916236">
                <a:moveTo>
                  <a:pt x="0" y="0"/>
                </a:moveTo>
                <a:lnTo>
                  <a:pt x="9916236" y="0"/>
                </a:lnTo>
                <a:lnTo>
                  <a:pt x="9916236" y="6470344"/>
                </a:lnTo>
                <a:lnTo>
                  <a:pt x="0" y="6470344"/>
                </a:lnTo>
                <a:lnTo>
                  <a:pt x="0" y="0"/>
                </a:lnTo>
                <a:close/>
              </a:path>
            </a:pathLst>
          </a:custGeom>
          <a:blipFill>
            <a:blip r:embed="rId4"/>
            <a:stretch>
              <a:fillRect l="0" t="0" r="0" b="0"/>
            </a:stretch>
          </a:blipFill>
        </p:spPr>
      </p:sp>
      <p:sp>
        <p:nvSpPr>
          <p:cNvPr name="TextBox 7" id="7"/>
          <p:cNvSpPr txBox="true"/>
          <p:nvPr/>
        </p:nvSpPr>
        <p:spPr>
          <a:xfrm rot="0">
            <a:off x="1442706" y="3441700"/>
            <a:ext cx="4604866" cy="3289301"/>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Histogram: Dist</a:t>
            </a:r>
            <a:r>
              <a:rPr lang="en-US" sz="3999" b="true">
                <a:solidFill>
                  <a:srgbClr val="FFFFFF"/>
                </a:solidFill>
                <a:latin typeface="Poppins Bold"/>
                <a:ea typeface="Poppins Bold"/>
                <a:cs typeface="Poppins Bold"/>
                <a:sym typeface="Poppins Bold"/>
              </a:rPr>
              <a:t>ribution of temperature by failure type.</a:t>
            </a:r>
          </a:p>
          <a:p>
            <a:pPr algn="just">
              <a:lnSpc>
                <a:spcPts val="3499"/>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5438633" cy="5849788"/>
            <a:chOff x="0" y="0"/>
            <a:chExt cx="1432397" cy="1540685"/>
          </a:xfrm>
        </p:grpSpPr>
        <p:sp>
          <p:nvSpPr>
            <p:cNvPr name="Freeform 4" id="4"/>
            <p:cNvSpPr/>
            <p:nvPr/>
          </p:nvSpPr>
          <p:spPr>
            <a:xfrm flipH="false" flipV="false" rot="0">
              <a:off x="0" y="0"/>
              <a:ext cx="1432397" cy="1540685"/>
            </a:xfrm>
            <a:custGeom>
              <a:avLst/>
              <a:gdLst/>
              <a:ahLst/>
              <a:cxnLst/>
              <a:rect r="r" b="b" t="t" l="l"/>
              <a:pathLst>
                <a:path h="1540685" w="1432397">
                  <a:moveTo>
                    <a:pt x="79716" y="0"/>
                  </a:moveTo>
                  <a:lnTo>
                    <a:pt x="1352681" y="0"/>
                  </a:lnTo>
                  <a:cubicBezTo>
                    <a:pt x="1373823" y="0"/>
                    <a:pt x="1394099" y="8399"/>
                    <a:pt x="1409049" y="23348"/>
                  </a:cubicBezTo>
                  <a:cubicBezTo>
                    <a:pt x="1423998" y="38298"/>
                    <a:pt x="1432397" y="58574"/>
                    <a:pt x="1432397" y="79716"/>
                  </a:cubicBezTo>
                  <a:lnTo>
                    <a:pt x="1432397" y="1460969"/>
                  </a:lnTo>
                  <a:cubicBezTo>
                    <a:pt x="1432397" y="1482111"/>
                    <a:pt x="1423998" y="1502387"/>
                    <a:pt x="1409049" y="1517337"/>
                  </a:cubicBezTo>
                  <a:cubicBezTo>
                    <a:pt x="1394099" y="1532286"/>
                    <a:pt x="1373823" y="1540685"/>
                    <a:pt x="1352681" y="1540685"/>
                  </a:cubicBezTo>
                  <a:lnTo>
                    <a:pt x="79716" y="1540685"/>
                  </a:lnTo>
                  <a:cubicBezTo>
                    <a:pt x="58574" y="1540685"/>
                    <a:pt x="38298" y="1532286"/>
                    <a:pt x="23348" y="1517337"/>
                  </a:cubicBezTo>
                  <a:cubicBezTo>
                    <a:pt x="8399" y="1502387"/>
                    <a:pt x="0" y="1482111"/>
                    <a:pt x="0" y="1460969"/>
                  </a:cubicBezTo>
                  <a:lnTo>
                    <a:pt x="0" y="79716"/>
                  </a:lnTo>
                  <a:cubicBezTo>
                    <a:pt x="0" y="58574"/>
                    <a:pt x="8399" y="38298"/>
                    <a:pt x="23348" y="23348"/>
                  </a:cubicBezTo>
                  <a:cubicBezTo>
                    <a:pt x="38298" y="8399"/>
                    <a:pt x="58574" y="0"/>
                    <a:pt x="7971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432397" cy="1607360"/>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7255004" y="1981270"/>
            <a:ext cx="10412386" cy="6755035"/>
          </a:xfrm>
          <a:custGeom>
            <a:avLst/>
            <a:gdLst/>
            <a:ahLst/>
            <a:cxnLst/>
            <a:rect r="r" b="b" t="t" l="l"/>
            <a:pathLst>
              <a:path h="6755035" w="10412386">
                <a:moveTo>
                  <a:pt x="0" y="0"/>
                </a:moveTo>
                <a:lnTo>
                  <a:pt x="10412386" y="0"/>
                </a:lnTo>
                <a:lnTo>
                  <a:pt x="10412386" y="6755036"/>
                </a:lnTo>
                <a:lnTo>
                  <a:pt x="0" y="6755036"/>
                </a:lnTo>
                <a:lnTo>
                  <a:pt x="0" y="0"/>
                </a:lnTo>
                <a:close/>
              </a:path>
            </a:pathLst>
          </a:custGeom>
          <a:blipFill>
            <a:blip r:embed="rId4"/>
            <a:stretch>
              <a:fillRect l="0" t="0" r="0" b="0"/>
            </a:stretch>
          </a:blipFill>
        </p:spPr>
      </p:sp>
      <p:sp>
        <p:nvSpPr>
          <p:cNvPr name="TextBox 7" id="7"/>
          <p:cNvSpPr txBox="true"/>
          <p:nvPr/>
        </p:nvSpPr>
        <p:spPr>
          <a:xfrm rot="0">
            <a:off x="1442706" y="4022725"/>
            <a:ext cx="4604866" cy="2127250"/>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Boxplot: Vib</a:t>
            </a:r>
            <a:r>
              <a:rPr lang="en-US" sz="3999" b="true">
                <a:solidFill>
                  <a:srgbClr val="FFFFFF"/>
                </a:solidFill>
                <a:latin typeface="Poppins Bold"/>
                <a:ea typeface="Poppins Bold"/>
                <a:cs typeface="Poppins Bold"/>
                <a:sym typeface="Poppins Bold"/>
              </a:rPr>
              <a:t>ration level by failure type.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5438633" cy="5849788"/>
            <a:chOff x="0" y="0"/>
            <a:chExt cx="1432397" cy="1540685"/>
          </a:xfrm>
        </p:grpSpPr>
        <p:sp>
          <p:nvSpPr>
            <p:cNvPr name="Freeform 4" id="4"/>
            <p:cNvSpPr/>
            <p:nvPr/>
          </p:nvSpPr>
          <p:spPr>
            <a:xfrm flipH="false" flipV="false" rot="0">
              <a:off x="0" y="0"/>
              <a:ext cx="1432397" cy="1540685"/>
            </a:xfrm>
            <a:custGeom>
              <a:avLst/>
              <a:gdLst/>
              <a:ahLst/>
              <a:cxnLst/>
              <a:rect r="r" b="b" t="t" l="l"/>
              <a:pathLst>
                <a:path h="1540685" w="1432397">
                  <a:moveTo>
                    <a:pt x="79716" y="0"/>
                  </a:moveTo>
                  <a:lnTo>
                    <a:pt x="1352681" y="0"/>
                  </a:lnTo>
                  <a:cubicBezTo>
                    <a:pt x="1373823" y="0"/>
                    <a:pt x="1394099" y="8399"/>
                    <a:pt x="1409049" y="23348"/>
                  </a:cubicBezTo>
                  <a:cubicBezTo>
                    <a:pt x="1423998" y="38298"/>
                    <a:pt x="1432397" y="58574"/>
                    <a:pt x="1432397" y="79716"/>
                  </a:cubicBezTo>
                  <a:lnTo>
                    <a:pt x="1432397" y="1460969"/>
                  </a:lnTo>
                  <a:cubicBezTo>
                    <a:pt x="1432397" y="1482111"/>
                    <a:pt x="1423998" y="1502387"/>
                    <a:pt x="1409049" y="1517337"/>
                  </a:cubicBezTo>
                  <a:cubicBezTo>
                    <a:pt x="1394099" y="1532286"/>
                    <a:pt x="1373823" y="1540685"/>
                    <a:pt x="1352681" y="1540685"/>
                  </a:cubicBezTo>
                  <a:lnTo>
                    <a:pt x="79716" y="1540685"/>
                  </a:lnTo>
                  <a:cubicBezTo>
                    <a:pt x="58574" y="1540685"/>
                    <a:pt x="38298" y="1532286"/>
                    <a:pt x="23348" y="1517337"/>
                  </a:cubicBezTo>
                  <a:cubicBezTo>
                    <a:pt x="8399" y="1502387"/>
                    <a:pt x="0" y="1482111"/>
                    <a:pt x="0" y="1460969"/>
                  </a:cubicBezTo>
                  <a:lnTo>
                    <a:pt x="0" y="79716"/>
                  </a:lnTo>
                  <a:cubicBezTo>
                    <a:pt x="0" y="58574"/>
                    <a:pt x="8399" y="38298"/>
                    <a:pt x="23348" y="23348"/>
                  </a:cubicBezTo>
                  <a:cubicBezTo>
                    <a:pt x="38298" y="8399"/>
                    <a:pt x="58574" y="0"/>
                    <a:pt x="7971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432397" cy="1607360"/>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6906124" y="1575845"/>
            <a:ext cx="10914433" cy="7135311"/>
          </a:xfrm>
          <a:custGeom>
            <a:avLst/>
            <a:gdLst/>
            <a:ahLst/>
            <a:cxnLst/>
            <a:rect r="r" b="b" t="t" l="l"/>
            <a:pathLst>
              <a:path h="7135311" w="10914433">
                <a:moveTo>
                  <a:pt x="0" y="0"/>
                </a:moveTo>
                <a:lnTo>
                  <a:pt x="10914434" y="0"/>
                </a:lnTo>
                <a:lnTo>
                  <a:pt x="10914434" y="7135310"/>
                </a:lnTo>
                <a:lnTo>
                  <a:pt x="0" y="7135310"/>
                </a:lnTo>
                <a:lnTo>
                  <a:pt x="0" y="0"/>
                </a:lnTo>
                <a:close/>
              </a:path>
            </a:pathLst>
          </a:custGeom>
          <a:blipFill>
            <a:blip r:embed="rId4"/>
            <a:stretch>
              <a:fillRect l="0" t="0" r="0" b="0"/>
            </a:stretch>
          </a:blipFill>
        </p:spPr>
      </p:sp>
      <p:sp>
        <p:nvSpPr>
          <p:cNvPr name="TextBox 7" id="7"/>
          <p:cNvSpPr txBox="true"/>
          <p:nvPr/>
        </p:nvSpPr>
        <p:spPr>
          <a:xfrm rot="0">
            <a:off x="1442706" y="4022725"/>
            <a:ext cx="4604866" cy="2832100"/>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Scatterplot: Noise vs. Tempe</a:t>
            </a:r>
            <a:r>
              <a:rPr lang="en-US" sz="3999" b="true">
                <a:solidFill>
                  <a:srgbClr val="FFFFFF"/>
                </a:solidFill>
                <a:latin typeface="Poppins Bold"/>
                <a:ea typeface="Poppins Bold"/>
                <a:cs typeface="Poppins Bold"/>
                <a:sym typeface="Poppins Bold"/>
              </a:rPr>
              <a:t>rature by failure type.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5822" y="2218606"/>
            <a:ext cx="5438633" cy="5849788"/>
            <a:chOff x="0" y="0"/>
            <a:chExt cx="1432397" cy="1540685"/>
          </a:xfrm>
        </p:grpSpPr>
        <p:sp>
          <p:nvSpPr>
            <p:cNvPr name="Freeform 4" id="4"/>
            <p:cNvSpPr/>
            <p:nvPr/>
          </p:nvSpPr>
          <p:spPr>
            <a:xfrm flipH="false" flipV="false" rot="0">
              <a:off x="0" y="0"/>
              <a:ext cx="1432397" cy="1540685"/>
            </a:xfrm>
            <a:custGeom>
              <a:avLst/>
              <a:gdLst/>
              <a:ahLst/>
              <a:cxnLst/>
              <a:rect r="r" b="b" t="t" l="l"/>
              <a:pathLst>
                <a:path h="1540685" w="1432397">
                  <a:moveTo>
                    <a:pt x="79716" y="0"/>
                  </a:moveTo>
                  <a:lnTo>
                    <a:pt x="1352681" y="0"/>
                  </a:lnTo>
                  <a:cubicBezTo>
                    <a:pt x="1373823" y="0"/>
                    <a:pt x="1394099" y="8399"/>
                    <a:pt x="1409049" y="23348"/>
                  </a:cubicBezTo>
                  <a:cubicBezTo>
                    <a:pt x="1423998" y="38298"/>
                    <a:pt x="1432397" y="58574"/>
                    <a:pt x="1432397" y="79716"/>
                  </a:cubicBezTo>
                  <a:lnTo>
                    <a:pt x="1432397" y="1460969"/>
                  </a:lnTo>
                  <a:cubicBezTo>
                    <a:pt x="1432397" y="1482111"/>
                    <a:pt x="1423998" y="1502387"/>
                    <a:pt x="1409049" y="1517337"/>
                  </a:cubicBezTo>
                  <a:cubicBezTo>
                    <a:pt x="1394099" y="1532286"/>
                    <a:pt x="1373823" y="1540685"/>
                    <a:pt x="1352681" y="1540685"/>
                  </a:cubicBezTo>
                  <a:lnTo>
                    <a:pt x="79716" y="1540685"/>
                  </a:lnTo>
                  <a:cubicBezTo>
                    <a:pt x="58574" y="1540685"/>
                    <a:pt x="38298" y="1532286"/>
                    <a:pt x="23348" y="1517337"/>
                  </a:cubicBezTo>
                  <a:cubicBezTo>
                    <a:pt x="8399" y="1502387"/>
                    <a:pt x="0" y="1482111"/>
                    <a:pt x="0" y="1460969"/>
                  </a:cubicBezTo>
                  <a:lnTo>
                    <a:pt x="0" y="79716"/>
                  </a:lnTo>
                  <a:cubicBezTo>
                    <a:pt x="0" y="58574"/>
                    <a:pt x="8399" y="38298"/>
                    <a:pt x="23348" y="23348"/>
                  </a:cubicBezTo>
                  <a:cubicBezTo>
                    <a:pt x="38298" y="8399"/>
                    <a:pt x="58574" y="0"/>
                    <a:pt x="79716"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5" id="5"/>
            <p:cNvSpPr txBox="true"/>
            <p:nvPr/>
          </p:nvSpPr>
          <p:spPr>
            <a:xfrm>
              <a:off x="0" y="-66675"/>
              <a:ext cx="1432397" cy="1607360"/>
            </a:xfrm>
            <a:prstGeom prst="rect">
              <a:avLst/>
            </a:prstGeom>
          </p:spPr>
          <p:txBody>
            <a:bodyPr anchor="ctr" rtlCol="false" tIns="50800" lIns="50800" bIns="50800" rIns="50800"/>
            <a:lstStyle/>
            <a:p>
              <a:pPr algn="ctr">
                <a:lnSpc>
                  <a:spcPts val="3151"/>
                </a:lnSpc>
              </a:pPr>
            </a:p>
          </p:txBody>
        </p:sp>
      </p:grpSp>
      <p:sp>
        <p:nvSpPr>
          <p:cNvPr name="Freeform 6" id="6"/>
          <p:cNvSpPr/>
          <p:nvPr/>
        </p:nvSpPr>
        <p:spPr>
          <a:xfrm flipH="false" flipV="false" rot="0">
            <a:off x="7046245" y="1771648"/>
            <a:ext cx="10455356" cy="6743704"/>
          </a:xfrm>
          <a:custGeom>
            <a:avLst/>
            <a:gdLst/>
            <a:ahLst/>
            <a:cxnLst/>
            <a:rect r="r" b="b" t="t" l="l"/>
            <a:pathLst>
              <a:path h="6743704" w="10455356">
                <a:moveTo>
                  <a:pt x="0" y="0"/>
                </a:moveTo>
                <a:lnTo>
                  <a:pt x="10455355" y="0"/>
                </a:lnTo>
                <a:lnTo>
                  <a:pt x="10455355" y="6743704"/>
                </a:lnTo>
                <a:lnTo>
                  <a:pt x="0" y="6743704"/>
                </a:lnTo>
                <a:lnTo>
                  <a:pt x="0" y="0"/>
                </a:lnTo>
                <a:close/>
              </a:path>
            </a:pathLst>
          </a:custGeom>
          <a:blipFill>
            <a:blip r:embed="rId4"/>
            <a:stretch>
              <a:fillRect l="0" t="0" r="0" b="0"/>
            </a:stretch>
          </a:blipFill>
        </p:spPr>
      </p:sp>
      <p:sp>
        <p:nvSpPr>
          <p:cNvPr name="TextBox 7" id="7"/>
          <p:cNvSpPr txBox="true"/>
          <p:nvPr/>
        </p:nvSpPr>
        <p:spPr>
          <a:xfrm rot="0">
            <a:off x="1442706" y="4022725"/>
            <a:ext cx="4604866" cy="2127250"/>
          </a:xfrm>
          <a:prstGeom prst="rect">
            <a:avLst/>
          </a:prstGeom>
        </p:spPr>
        <p:txBody>
          <a:bodyPr anchor="t" rtlCol="false" tIns="0" lIns="0" bIns="0" rIns="0">
            <a:spAutoFit/>
          </a:bodyPr>
          <a:lstStyle/>
          <a:p>
            <a:pPr algn="just">
              <a:lnSpc>
                <a:spcPts val="5599"/>
              </a:lnSpc>
            </a:pPr>
            <a:r>
              <a:rPr lang="en-US" sz="3999" b="true">
                <a:solidFill>
                  <a:srgbClr val="FFFFFF"/>
                </a:solidFill>
                <a:latin typeface="Poppins Bold"/>
                <a:ea typeface="Poppins Bold"/>
                <a:cs typeface="Poppins Bold"/>
                <a:sym typeface="Poppins Bold"/>
              </a:rPr>
              <a:t>Countplot: Dist</a:t>
            </a:r>
            <a:r>
              <a:rPr lang="en-US" sz="3999" b="true">
                <a:solidFill>
                  <a:srgbClr val="FFFFFF"/>
                </a:solidFill>
                <a:latin typeface="Poppins Bold"/>
                <a:ea typeface="Poppins Bold"/>
                <a:cs typeface="Poppins Bold"/>
                <a:sym typeface="Poppins Bold"/>
              </a:rPr>
              <a:t>ribution of failure types.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894724"/>
            <a:ext cx="8123438" cy="7727240"/>
            <a:chOff x="0" y="0"/>
            <a:chExt cx="2139506" cy="2035158"/>
          </a:xfrm>
        </p:grpSpPr>
        <p:sp>
          <p:nvSpPr>
            <p:cNvPr name="Freeform 4" id="4"/>
            <p:cNvSpPr/>
            <p:nvPr/>
          </p:nvSpPr>
          <p:spPr>
            <a:xfrm flipH="false" flipV="false" rot="0">
              <a:off x="0" y="0"/>
              <a:ext cx="2139506" cy="2035158"/>
            </a:xfrm>
            <a:custGeom>
              <a:avLst/>
              <a:gdLst/>
              <a:ahLst/>
              <a:cxnLst/>
              <a:rect r="r" b="b" t="t" l="l"/>
              <a:pathLst>
                <a:path h="2035158" w="2139506">
                  <a:moveTo>
                    <a:pt x="53370" y="0"/>
                  </a:moveTo>
                  <a:lnTo>
                    <a:pt x="2086136" y="0"/>
                  </a:lnTo>
                  <a:cubicBezTo>
                    <a:pt x="2115612" y="0"/>
                    <a:pt x="2139506" y="23895"/>
                    <a:pt x="2139506" y="53370"/>
                  </a:cubicBezTo>
                  <a:lnTo>
                    <a:pt x="2139506" y="1981788"/>
                  </a:lnTo>
                  <a:cubicBezTo>
                    <a:pt x="2139506" y="2011263"/>
                    <a:pt x="2115612" y="2035158"/>
                    <a:pt x="2086136" y="2035158"/>
                  </a:cubicBezTo>
                  <a:lnTo>
                    <a:pt x="53370" y="2035158"/>
                  </a:lnTo>
                  <a:cubicBezTo>
                    <a:pt x="23895" y="2035158"/>
                    <a:pt x="0" y="2011263"/>
                    <a:pt x="0" y="1981788"/>
                  </a:cubicBezTo>
                  <a:lnTo>
                    <a:pt x="0" y="53370"/>
                  </a:lnTo>
                  <a:cubicBezTo>
                    <a:pt x="0" y="23895"/>
                    <a:pt x="23895" y="0"/>
                    <a:pt x="53370"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2139506" cy="2101833"/>
            </a:xfrm>
            <a:prstGeom prst="rect">
              <a:avLst/>
            </a:prstGeom>
          </p:spPr>
          <p:txBody>
            <a:bodyPr anchor="ctr" rtlCol="false" tIns="50800" lIns="50800" bIns="50800" rIns="50800"/>
            <a:lstStyle/>
            <a:p>
              <a:pPr algn="ctr">
                <a:lnSpc>
                  <a:spcPts val="3151"/>
                </a:lnSpc>
              </a:pPr>
            </a:p>
          </p:txBody>
        </p:sp>
      </p:grpSp>
      <p:sp>
        <p:nvSpPr>
          <p:cNvPr name="TextBox 6" id="6"/>
          <p:cNvSpPr txBox="true"/>
          <p:nvPr/>
        </p:nvSpPr>
        <p:spPr>
          <a:xfrm rot="0">
            <a:off x="1028700" y="2437294"/>
            <a:ext cx="7305586" cy="7013575"/>
          </a:xfrm>
          <a:prstGeom prst="rect">
            <a:avLst/>
          </a:prstGeom>
        </p:spPr>
        <p:txBody>
          <a:bodyPr anchor="t" rtlCol="false" tIns="0" lIns="0" bIns="0" rIns="0">
            <a:spAutoFit/>
          </a:bodyPr>
          <a:lstStyle/>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Logistic Regression: </a:t>
            </a:r>
            <a:r>
              <a:rPr lang="en-US" sz="2499">
                <a:solidFill>
                  <a:srgbClr val="FFFFFF"/>
                </a:solidFill>
                <a:latin typeface="Poppins"/>
                <a:ea typeface="Poppins"/>
                <a:cs typeface="Poppins"/>
                <a:sym typeface="Poppins"/>
              </a:rPr>
              <a:t>Used for baseline classification.  </a:t>
            </a:r>
            <a:r>
              <a:rPr lang="en-US" b="true" sz="2499">
                <a:solidFill>
                  <a:srgbClr val="FFFFFF"/>
                </a:solidFill>
                <a:latin typeface="Poppins Bold"/>
                <a:ea typeface="Poppins Bold"/>
                <a:cs typeface="Poppins Bold"/>
                <a:sym typeface="Poppins Bold"/>
              </a:rPr>
              <a:t>0.724</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Random Forest:</a:t>
            </a:r>
            <a:r>
              <a:rPr lang="en-US" sz="2499">
                <a:solidFill>
                  <a:srgbClr val="FFFFFF"/>
                </a:solidFill>
                <a:latin typeface="Poppins"/>
                <a:ea typeface="Poppins"/>
                <a:cs typeface="Poppins"/>
                <a:sym typeface="Poppins"/>
              </a:rPr>
              <a:t> An ensemble method, good for handling complex datasets. </a:t>
            </a:r>
            <a:r>
              <a:rPr lang="en-US" b="true" sz="2499">
                <a:solidFill>
                  <a:srgbClr val="FFFFFF"/>
                </a:solidFill>
                <a:latin typeface="Poppins Bold"/>
                <a:ea typeface="Poppins Bold"/>
                <a:cs typeface="Poppins Bold"/>
                <a:sym typeface="Poppins Bold"/>
              </a:rPr>
              <a:t>0.91</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Decision Tree:</a:t>
            </a:r>
            <a:r>
              <a:rPr lang="en-US" sz="2499">
                <a:solidFill>
                  <a:srgbClr val="FFFFFF"/>
                </a:solidFill>
                <a:latin typeface="Poppins"/>
                <a:ea typeface="Poppins"/>
                <a:cs typeface="Poppins"/>
                <a:sym typeface="Poppins"/>
              </a:rPr>
              <a:t> Helps in understanding decision boundaries for classification.  </a:t>
            </a:r>
            <a:r>
              <a:rPr lang="en-US" b="true" sz="2499">
                <a:solidFill>
                  <a:srgbClr val="FFFFFF"/>
                </a:solidFill>
                <a:latin typeface="Poppins Bold"/>
                <a:ea typeface="Poppins Bold"/>
                <a:cs typeface="Poppins Bold"/>
                <a:sym typeface="Poppins Bold"/>
              </a:rPr>
              <a:t>0.872</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Support Vector Classifier (SVC):</a:t>
            </a:r>
            <a:r>
              <a:rPr lang="en-US" sz="2499">
                <a:solidFill>
                  <a:srgbClr val="FFFFFF"/>
                </a:solidFill>
                <a:latin typeface="Poppins"/>
                <a:ea typeface="Poppins"/>
                <a:cs typeface="Poppins"/>
                <a:sym typeface="Poppins"/>
              </a:rPr>
              <a:t> Focuses on maximizing the margin between classes. </a:t>
            </a:r>
            <a:r>
              <a:rPr lang="en-US" b="true" sz="2499">
                <a:solidFill>
                  <a:srgbClr val="FFFFFF"/>
                </a:solidFill>
                <a:latin typeface="Poppins Bold"/>
                <a:ea typeface="Poppins Bold"/>
                <a:cs typeface="Poppins Bold"/>
                <a:sym typeface="Poppins Bold"/>
              </a:rPr>
              <a:t>0.76</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K-Nearest Neighbors (KNN):</a:t>
            </a:r>
            <a:r>
              <a:rPr lang="en-US" sz="2499">
                <a:solidFill>
                  <a:srgbClr val="FFFFFF"/>
                </a:solidFill>
                <a:latin typeface="Poppins"/>
                <a:ea typeface="Poppins"/>
                <a:cs typeface="Poppins"/>
                <a:sym typeface="Poppins"/>
              </a:rPr>
              <a:t> A simple non-parametric algorithm. </a:t>
            </a:r>
            <a:r>
              <a:rPr lang="en-US" b="true" sz="2499">
                <a:solidFill>
                  <a:srgbClr val="FFFFFF"/>
                </a:solidFill>
                <a:latin typeface="Poppins Bold"/>
                <a:ea typeface="Poppins Bold"/>
                <a:cs typeface="Poppins Bold"/>
                <a:sym typeface="Poppins Bold"/>
              </a:rPr>
              <a:t>0.802</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XGBoost:</a:t>
            </a:r>
            <a:r>
              <a:rPr lang="en-US" sz="2499">
                <a:solidFill>
                  <a:srgbClr val="FFFFFF"/>
                </a:solidFill>
                <a:latin typeface="Poppins"/>
                <a:ea typeface="Poppins"/>
                <a:cs typeface="Poppins"/>
                <a:sym typeface="Poppins"/>
              </a:rPr>
              <a:t> A highly efficient gradient boosting algorithm for classification.  </a:t>
            </a:r>
            <a:r>
              <a:rPr lang="en-US" b="true" sz="2499">
                <a:solidFill>
                  <a:srgbClr val="FFFFFF"/>
                </a:solidFill>
                <a:latin typeface="Poppins Bold"/>
                <a:ea typeface="Poppins Bold"/>
                <a:cs typeface="Poppins Bold"/>
                <a:sym typeface="Poppins Bold"/>
              </a:rPr>
              <a:t>0.916</a:t>
            </a:r>
          </a:p>
          <a:p>
            <a:pPr algn="just">
              <a:lnSpc>
                <a:spcPts val="3499"/>
              </a:lnSpc>
            </a:pPr>
          </a:p>
        </p:txBody>
      </p:sp>
      <p:grpSp>
        <p:nvGrpSpPr>
          <p:cNvPr name="Group 7" id="7"/>
          <p:cNvGrpSpPr/>
          <p:nvPr/>
        </p:nvGrpSpPr>
        <p:grpSpPr>
          <a:xfrm rot="0">
            <a:off x="9526796" y="2865211"/>
            <a:ext cx="7960811" cy="4556577"/>
            <a:chOff x="0" y="0"/>
            <a:chExt cx="10614414" cy="6075436"/>
          </a:xfrm>
        </p:grpSpPr>
        <p:grpSp>
          <p:nvGrpSpPr>
            <p:cNvPr name="Group 8" id="8"/>
            <p:cNvGrpSpPr/>
            <p:nvPr/>
          </p:nvGrpSpPr>
          <p:grpSpPr>
            <a:xfrm rot="0">
              <a:off x="0" y="0"/>
              <a:ext cx="10614414" cy="6075436"/>
              <a:chOff x="0" y="0"/>
              <a:chExt cx="2096674" cy="1200086"/>
            </a:xfrm>
          </p:grpSpPr>
          <p:sp>
            <p:nvSpPr>
              <p:cNvPr name="Freeform 9" id="9"/>
              <p:cNvSpPr/>
              <p:nvPr/>
            </p:nvSpPr>
            <p:spPr>
              <a:xfrm flipH="false" flipV="false" rot="0">
                <a:off x="0" y="0"/>
                <a:ext cx="2096674" cy="1200086"/>
              </a:xfrm>
              <a:custGeom>
                <a:avLst/>
                <a:gdLst/>
                <a:ahLst/>
                <a:cxnLst/>
                <a:rect r="r" b="b" t="t" l="l"/>
                <a:pathLst>
                  <a:path h="1200086" w="2096674">
                    <a:moveTo>
                      <a:pt x="54460" y="0"/>
                    </a:moveTo>
                    <a:lnTo>
                      <a:pt x="2042214" y="0"/>
                    </a:lnTo>
                    <a:cubicBezTo>
                      <a:pt x="2056658" y="0"/>
                      <a:pt x="2070510" y="5738"/>
                      <a:pt x="2080723" y="15951"/>
                    </a:cubicBezTo>
                    <a:cubicBezTo>
                      <a:pt x="2090937" y="26164"/>
                      <a:pt x="2096674" y="40016"/>
                      <a:pt x="2096674" y="54460"/>
                    </a:cubicBezTo>
                    <a:lnTo>
                      <a:pt x="2096674" y="1145626"/>
                    </a:lnTo>
                    <a:cubicBezTo>
                      <a:pt x="2096674" y="1160070"/>
                      <a:pt x="2090937" y="1173922"/>
                      <a:pt x="2080723" y="1184135"/>
                    </a:cubicBezTo>
                    <a:cubicBezTo>
                      <a:pt x="2070510" y="1194348"/>
                      <a:pt x="2056658" y="1200086"/>
                      <a:pt x="2042214" y="1200086"/>
                    </a:cubicBezTo>
                    <a:lnTo>
                      <a:pt x="54460" y="1200086"/>
                    </a:lnTo>
                    <a:cubicBezTo>
                      <a:pt x="40016" y="1200086"/>
                      <a:pt x="26164" y="1194348"/>
                      <a:pt x="15951" y="1184135"/>
                    </a:cubicBezTo>
                    <a:cubicBezTo>
                      <a:pt x="5738" y="1173922"/>
                      <a:pt x="0" y="1160070"/>
                      <a:pt x="0" y="1145626"/>
                    </a:cubicBezTo>
                    <a:lnTo>
                      <a:pt x="0" y="54460"/>
                    </a:lnTo>
                    <a:cubicBezTo>
                      <a:pt x="0" y="40016"/>
                      <a:pt x="5738" y="26164"/>
                      <a:pt x="15951" y="15951"/>
                    </a:cubicBezTo>
                    <a:cubicBezTo>
                      <a:pt x="26164" y="5738"/>
                      <a:pt x="40016" y="0"/>
                      <a:pt x="54460" y="0"/>
                    </a:cubicBezTo>
                    <a:close/>
                  </a:path>
                </a:pathLst>
              </a:custGeom>
              <a:solidFill>
                <a:srgbClr val="000000">
                  <a:alpha val="0"/>
                </a:srgbClr>
              </a:solidFill>
              <a:ln w="28575" cap="rnd">
                <a:solidFill>
                  <a:srgbClr val="FFFFFF"/>
                </a:solidFill>
                <a:prstDash val="solid"/>
                <a:round/>
              </a:ln>
            </p:spPr>
          </p:sp>
          <p:sp>
            <p:nvSpPr>
              <p:cNvPr name="TextBox 10" id="10"/>
              <p:cNvSpPr txBox="true"/>
              <p:nvPr/>
            </p:nvSpPr>
            <p:spPr>
              <a:xfrm>
                <a:off x="0" y="-66675"/>
                <a:ext cx="2096674" cy="1266761"/>
              </a:xfrm>
              <a:prstGeom prst="rect">
                <a:avLst/>
              </a:prstGeom>
            </p:spPr>
            <p:txBody>
              <a:bodyPr anchor="ctr" rtlCol="false" tIns="50800" lIns="50800" bIns="50800" rIns="50800"/>
              <a:lstStyle/>
              <a:p>
                <a:pPr algn="ctr">
                  <a:lnSpc>
                    <a:spcPts val="3151"/>
                  </a:lnSpc>
                </a:pPr>
              </a:p>
            </p:txBody>
          </p:sp>
        </p:grpSp>
        <p:sp>
          <p:nvSpPr>
            <p:cNvPr name="TextBox 11" id="11"/>
            <p:cNvSpPr txBox="true"/>
            <p:nvPr/>
          </p:nvSpPr>
          <p:spPr>
            <a:xfrm rot="0">
              <a:off x="901754" y="804377"/>
              <a:ext cx="8880743" cy="4511819"/>
            </a:xfrm>
            <a:prstGeom prst="rect">
              <a:avLst/>
            </a:prstGeom>
          </p:spPr>
          <p:txBody>
            <a:bodyPr anchor="t" rtlCol="false" tIns="0" lIns="0" bIns="0" rIns="0">
              <a:spAutoFit/>
            </a:bodyPr>
            <a:lstStyle/>
            <a:p>
              <a:pPr algn="just">
                <a:lnSpc>
                  <a:spcPts val="8504"/>
                </a:lnSpc>
              </a:pPr>
              <a:r>
                <a:rPr lang="en-US" b="true" sz="8338" spc="-375">
                  <a:solidFill>
                    <a:srgbClr val="FFFFFF"/>
                  </a:solidFill>
                  <a:latin typeface="Telegraf Bold"/>
                  <a:ea typeface="Telegraf Bold"/>
                  <a:cs typeface="Telegraf Bold"/>
                  <a:sym typeface="Telegraf Bold"/>
                </a:rPr>
                <a:t>Algorithms Used for Data Analysis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03986" y="1894724"/>
            <a:ext cx="7145508" cy="3799934"/>
            <a:chOff x="0" y="0"/>
            <a:chExt cx="1881944" cy="1000806"/>
          </a:xfrm>
        </p:grpSpPr>
        <p:sp>
          <p:nvSpPr>
            <p:cNvPr name="Freeform 4" id="4"/>
            <p:cNvSpPr/>
            <p:nvPr/>
          </p:nvSpPr>
          <p:spPr>
            <a:xfrm flipH="false" flipV="false" rot="0">
              <a:off x="0" y="0"/>
              <a:ext cx="1881944" cy="1000806"/>
            </a:xfrm>
            <a:custGeom>
              <a:avLst/>
              <a:gdLst/>
              <a:ahLst/>
              <a:cxnLst/>
              <a:rect r="r" b="b" t="t" l="l"/>
              <a:pathLst>
                <a:path h="1000806" w="1881944">
                  <a:moveTo>
                    <a:pt x="60674" y="0"/>
                  </a:moveTo>
                  <a:lnTo>
                    <a:pt x="1821270" y="0"/>
                  </a:lnTo>
                  <a:cubicBezTo>
                    <a:pt x="1854780" y="0"/>
                    <a:pt x="1881944" y="27165"/>
                    <a:pt x="1881944" y="60674"/>
                  </a:cubicBezTo>
                  <a:lnTo>
                    <a:pt x="1881944" y="940132"/>
                  </a:lnTo>
                  <a:cubicBezTo>
                    <a:pt x="1881944" y="956223"/>
                    <a:pt x="1875552" y="971656"/>
                    <a:pt x="1864173" y="983035"/>
                  </a:cubicBezTo>
                  <a:cubicBezTo>
                    <a:pt x="1852795" y="994413"/>
                    <a:pt x="1837362" y="1000806"/>
                    <a:pt x="1821270" y="1000806"/>
                  </a:cubicBezTo>
                  <a:lnTo>
                    <a:pt x="60674" y="1000806"/>
                  </a:lnTo>
                  <a:cubicBezTo>
                    <a:pt x="27165" y="1000806"/>
                    <a:pt x="0" y="973641"/>
                    <a:pt x="0" y="940132"/>
                  </a:cubicBezTo>
                  <a:lnTo>
                    <a:pt x="0" y="60674"/>
                  </a:lnTo>
                  <a:cubicBezTo>
                    <a:pt x="0" y="27165"/>
                    <a:pt x="27165" y="0"/>
                    <a:pt x="60674" y="0"/>
                  </a:cubicBezTo>
                  <a:close/>
                </a:path>
              </a:pathLst>
            </a:custGeom>
            <a:gradFill rotWithShape="true">
              <a:gsLst>
                <a:gs pos="0">
                  <a:srgbClr val="000000">
                    <a:alpha val="78000"/>
                  </a:srgbClr>
                </a:gs>
                <a:gs pos="100000">
                  <a:srgbClr val="DDDDDD">
                    <a:alpha val="14820"/>
                  </a:srgbClr>
                </a:gs>
              </a:gsLst>
              <a:lin ang="2700000"/>
            </a:gradFill>
          </p:spPr>
        </p:sp>
        <p:sp>
          <p:nvSpPr>
            <p:cNvPr name="TextBox 5" id="5"/>
            <p:cNvSpPr txBox="true"/>
            <p:nvPr/>
          </p:nvSpPr>
          <p:spPr>
            <a:xfrm>
              <a:off x="0" y="-66675"/>
              <a:ext cx="1881944" cy="1067481"/>
            </a:xfrm>
            <a:prstGeom prst="rect">
              <a:avLst/>
            </a:prstGeom>
          </p:spPr>
          <p:txBody>
            <a:bodyPr anchor="ctr" rtlCol="false" tIns="50800" lIns="50800" bIns="50800" rIns="50800"/>
            <a:lstStyle/>
            <a:p>
              <a:pPr algn="ctr">
                <a:lnSpc>
                  <a:spcPts val="3151"/>
                </a:lnSpc>
              </a:pPr>
            </a:p>
          </p:txBody>
        </p:sp>
      </p:grpSp>
      <p:grpSp>
        <p:nvGrpSpPr>
          <p:cNvPr name="Group 6" id="6"/>
          <p:cNvGrpSpPr/>
          <p:nvPr/>
        </p:nvGrpSpPr>
        <p:grpSpPr>
          <a:xfrm rot="0">
            <a:off x="8571008" y="1894724"/>
            <a:ext cx="8793686" cy="7363576"/>
            <a:chOff x="0" y="0"/>
            <a:chExt cx="1881944" cy="1575885"/>
          </a:xfrm>
        </p:grpSpPr>
        <p:sp>
          <p:nvSpPr>
            <p:cNvPr name="Freeform 7" id="7"/>
            <p:cNvSpPr/>
            <p:nvPr/>
          </p:nvSpPr>
          <p:spPr>
            <a:xfrm flipH="false" flipV="false" rot="0">
              <a:off x="0" y="0"/>
              <a:ext cx="1881944" cy="1575885"/>
            </a:xfrm>
            <a:custGeom>
              <a:avLst/>
              <a:gdLst/>
              <a:ahLst/>
              <a:cxnLst/>
              <a:rect r="r" b="b" t="t" l="l"/>
              <a:pathLst>
                <a:path h="1575885" w="1881944">
                  <a:moveTo>
                    <a:pt x="49302" y="0"/>
                  </a:moveTo>
                  <a:lnTo>
                    <a:pt x="1832642" y="0"/>
                  </a:lnTo>
                  <a:cubicBezTo>
                    <a:pt x="1845718" y="0"/>
                    <a:pt x="1858258" y="5194"/>
                    <a:pt x="1867504" y="14440"/>
                  </a:cubicBezTo>
                  <a:cubicBezTo>
                    <a:pt x="1876750" y="23686"/>
                    <a:pt x="1881944" y="36226"/>
                    <a:pt x="1881944" y="49302"/>
                  </a:cubicBezTo>
                  <a:lnTo>
                    <a:pt x="1881944" y="1526583"/>
                  </a:lnTo>
                  <a:cubicBezTo>
                    <a:pt x="1881944" y="1539659"/>
                    <a:pt x="1876750" y="1552199"/>
                    <a:pt x="1867504" y="1561445"/>
                  </a:cubicBezTo>
                  <a:cubicBezTo>
                    <a:pt x="1858258" y="1570691"/>
                    <a:pt x="1845718" y="1575885"/>
                    <a:pt x="1832642" y="1575885"/>
                  </a:cubicBezTo>
                  <a:lnTo>
                    <a:pt x="49302" y="1575885"/>
                  </a:lnTo>
                  <a:cubicBezTo>
                    <a:pt x="22073" y="1575885"/>
                    <a:pt x="0" y="1553812"/>
                    <a:pt x="0" y="1526583"/>
                  </a:cubicBezTo>
                  <a:lnTo>
                    <a:pt x="0" y="49302"/>
                  </a:lnTo>
                  <a:cubicBezTo>
                    <a:pt x="0" y="36226"/>
                    <a:pt x="5194" y="23686"/>
                    <a:pt x="14440" y="14440"/>
                  </a:cubicBezTo>
                  <a:cubicBezTo>
                    <a:pt x="23686" y="5194"/>
                    <a:pt x="36226" y="0"/>
                    <a:pt x="49302"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8" id="8"/>
            <p:cNvSpPr txBox="true"/>
            <p:nvPr/>
          </p:nvSpPr>
          <p:spPr>
            <a:xfrm>
              <a:off x="0" y="-66675"/>
              <a:ext cx="1881944" cy="1642560"/>
            </a:xfrm>
            <a:prstGeom prst="rect">
              <a:avLst/>
            </a:prstGeom>
          </p:spPr>
          <p:txBody>
            <a:bodyPr anchor="ctr" rtlCol="false" tIns="62517" lIns="62517" bIns="62517" rIns="62517"/>
            <a:lstStyle/>
            <a:p>
              <a:pPr algn="ctr">
                <a:lnSpc>
                  <a:spcPts val="3151"/>
                </a:lnSpc>
              </a:pPr>
            </a:p>
          </p:txBody>
        </p:sp>
      </p:grpSp>
      <p:sp>
        <p:nvSpPr>
          <p:cNvPr name="TextBox 9" id="9"/>
          <p:cNvSpPr txBox="true"/>
          <p:nvPr/>
        </p:nvSpPr>
        <p:spPr>
          <a:xfrm rot="0">
            <a:off x="9410666" y="2474163"/>
            <a:ext cx="7240104" cy="6532203"/>
          </a:xfrm>
          <a:prstGeom prst="rect">
            <a:avLst/>
          </a:prstGeom>
        </p:spPr>
        <p:txBody>
          <a:bodyPr anchor="t" rtlCol="false" tIns="0" lIns="0" bIns="0" rIns="0">
            <a:spAutoFit/>
          </a:bodyPr>
          <a:lstStyle/>
          <a:p>
            <a:pPr algn="just" marL="664247" indent="-332124" lvl="1">
              <a:lnSpc>
                <a:spcPts val="4307"/>
              </a:lnSpc>
              <a:buFont typeface="Arial"/>
              <a:buChar char="•"/>
            </a:pPr>
            <a:r>
              <a:rPr lang="en-US" b="true" sz="3076">
                <a:solidFill>
                  <a:srgbClr val="FFFFFF"/>
                </a:solidFill>
                <a:latin typeface="Poppins Bold"/>
                <a:ea typeface="Poppins Bold"/>
                <a:cs typeface="Poppins Bold"/>
                <a:sym typeface="Poppins Bold"/>
              </a:rPr>
              <a:t>Best Model: </a:t>
            </a:r>
            <a:r>
              <a:rPr lang="en-US" sz="3076">
                <a:solidFill>
                  <a:srgbClr val="FFFFFF"/>
                </a:solidFill>
                <a:latin typeface="Poppins"/>
                <a:ea typeface="Poppins"/>
                <a:cs typeface="Poppins"/>
                <a:sym typeface="Poppins"/>
              </a:rPr>
              <a:t>XGBoost with an accuracy of 91.6%.</a:t>
            </a:r>
          </a:p>
          <a:p>
            <a:pPr algn="just">
              <a:lnSpc>
                <a:spcPts val="4307"/>
              </a:lnSpc>
            </a:pPr>
          </a:p>
          <a:p>
            <a:pPr algn="just" marL="664247" indent="-332124" lvl="1">
              <a:lnSpc>
                <a:spcPts val="4307"/>
              </a:lnSpc>
              <a:buFont typeface="Arial"/>
              <a:buChar char="•"/>
            </a:pPr>
            <a:r>
              <a:rPr lang="en-US" b="true" sz="3076">
                <a:solidFill>
                  <a:srgbClr val="FFFFFF"/>
                </a:solidFill>
                <a:latin typeface="Poppins Bold"/>
                <a:ea typeface="Poppins Bold"/>
                <a:cs typeface="Poppins Bold"/>
                <a:sym typeface="Poppins Bold"/>
              </a:rPr>
              <a:t>Why XGBoost?</a:t>
            </a:r>
            <a:r>
              <a:rPr lang="en-US" sz="3076">
                <a:solidFill>
                  <a:srgbClr val="FFFFFF"/>
                </a:solidFill>
                <a:latin typeface="Poppins"/>
                <a:ea typeface="Poppins"/>
                <a:cs typeface="Poppins"/>
                <a:sym typeface="Poppins"/>
              </a:rPr>
              <a:t> </a:t>
            </a:r>
          </a:p>
          <a:p>
            <a:pPr algn="just">
              <a:lnSpc>
                <a:spcPts val="4307"/>
              </a:lnSpc>
            </a:pPr>
          </a:p>
          <a:p>
            <a:pPr algn="just" marL="664247" indent="-332124" lvl="1">
              <a:lnSpc>
                <a:spcPts val="4307"/>
              </a:lnSpc>
              <a:buFont typeface="Arial"/>
              <a:buChar char="•"/>
            </a:pPr>
            <a:r>
              <a:rPr lang="en-US" sz="3076">
                <a:solidFill>
                  <a:srgbClr val="FFFFFF"/>
                </a:solidFill>
                <a:latin typeface="Poppins"/>
                <a:ea typeface="Poppins"/>
                <a:cs typeface="Poppins"/>
                <a:sym typeface="Poppins"/>
              </a:rPr>
              <a:t>It outpe</a:t>
            </a:r>
            <a:r>
              <a:rPr lang="en-US" sz="3076">
                <a:solidFill>
                  <a:srgbClr val="FFFFFF"/>
                </a:solidFill>
                <a:latin typeface="Poppins"/>
                <a:ea typeface="Poppins"/>
                <a:cs typeface="Poppins"/>
                <a:sym typeface="Poppins"/>
              </a:rPr>
              <a:t>rformed other models in terms of accuracy and efficiency. XGBoost provides faster training times, scalability to larger datasets, and the ability to handle missing data effectively.</a:t>
            </a:r>
          </a:p>
          <a:p>
            <a:pPr algn="just">
              <a:lnSpc>
                <a:spcPts val="4307"/>
              </a:lnSpc>
            </a:pPr>
          </a:p>
        </p:txBody>
      </p:sp>
      <p:sp>
        <p:nvSpPr>
          <p:cNvPr name="TextBox 10" id="10"/>
          <p:cNvSpPr txBox="true"/>
          <p:nvPr/>
        </p:nvSpPr>
        <p:spPr>
          <a:xfrm rot="0">
            <a:off x="1655525" y="2356089"/>
            <a:ext cx="4045420" cy="2623968"/>
          </a:xfrm>
          <a:prstGeom prst="rect">
            <a:avLst/>
          </a:prstGeom>
        </p:spPr>
        <p:txBody>
          <a:bodyPr anchor="t" rtlCol="false" tIns="0" lIns="0" bIns="0" rIns="0">
            <a:spAutoFit/>
          </a:bodyPr>
          <a:lstStyle/>
          <a:p>
            <a:pPr algn="l">
              <a:lnSpc>
                <a:spcPts val="6642"/>
              </a:lnSpc>
            </a:pPr>
            <a:r>
              <a:rPr lang="en-US" sz="6512" spc="-293" b="true">
                <a:solidFill>
                  <a:srgbClr val="FFFFFF"/>
                </a:solidFill>
                <a:latin typeface="Telegraf Bold"/>
                <a:ea typeface="Telegraf Bold"/>
                <a:cs typeface="Telegraf Bold"/>
                <a:sym typeface="Telegraf Bold"/>
              </a:rPr>
              <a:t>Best Model Selection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sp>
        <p:nvSpPr>
          <p:cNvPr name="Freeform 2" id="2"/>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42673" y="1028700"/>
            <a:ext cx="11116627" cy="8235224"/>
            <a:chOff x="0" y="0"/>
            <a:chExt cx="14822169" cy="10980299"/>
          </a:xfrm>
        </p:grpSpPr>
        <p:grpSp>
          <p:nvGrpSpPr>
            <p:cNvPr name="Group 4" id="4"/>
            <p:cNvGrpSpPr/>
            <p:nvPr/>
          </p:nvGrpSpPr>
          <p:grpSpPr>
            <a:xfrm rot="0">
              <a:off x="0" y="0"/>
              <a:ext cx="14822169" cy="10980299"/>
              <a:chOff x="0" y="0"/>
              <a:chExt cx="2927836" cy="2168948"/>
            </a:xfrm>
          </p:grpSpPr>
          <p:sp>
            <p:nvSpPr>
              <p:cNvPr name="Freeform 5" id="5"/>
              <p:cNvSpPr/>
              <p:nvPr/>
            </p:nvSpPr>
            <p:spPr>
              <a:xfrm flipH="false" flipV="false" rot="0">
                <a:off x="0" y="0"/>
                <a:ext cx="2927836" cy="2168948"/>
              </a:xfrm>
              <a:custGeom>
                <a:avLst/>
                <a:gdLst/>
                <a:ahLst/>
                <a:cxnLst/>
                <a:rect r="r" b="b" t="t" l="l"/>
                <a:pathLst>
                  <a:path h="2168948" w="2927836">
                    <a:moveTo>
                      <a:pt x="29250" y="0"/>
                    </a:moveTo>
                    <a:lnTo>
                      <a:pt x="2898586" y="0"/>
                    </a:lnTo>
                    <a:cubicBezTo>
                      <a:pt x="2906344" y="0"/>
                      <a:pt x="2913783" y="3082"/>
                      <a:pt x="2919269" y="8567"/>
                    </a:cubicBezTo>
                    <a:cubicBezTo>
                      <a:pt x="2924754" y="14053"/>
                      <a:pt x="2927836" y="21492"/>
                      <a:pt x="2927836" y="29250"/>
                    </a:cubicBezTo>
                    <a:lnTo>
                      <a:pt x="2927836" y="2139698"/>
                    </a:lnTo>
                    <a:cubicBezTo>
                      <a:pt x="2927836" y="2147456"/>
                      <a:pt x="2924754" y="2154895"/>
                      <a:pt x="2919269" y="2160381"/>
                    </a:cubicBezTo>
                    <a:cubicBezTo>
                      <a:pt x="2913783" y="2165866"/>
                      <a:pt x="2906344" y="2168948"/>
                      <a:pt x="2898586" y="2168948"/>
                    </a:cubicBezTo>
                    <a:lnTo>
                      <a:pt x="29250" y="2168948"/>
                    </a:lnTo>
                    <a:cubicBezTo>
                      <a:pt x="21492" y="2168948"/>
                      <a:pt x="14053" y="2165866"/>
                      <a:pt x="8567" y="2160381"/>
                    </a:cubicBezTo>
                    <a:cubicBezTo>
                      <a:pt x="3082" y="2154895"/>
                      <a:pt x="0" y="2147456"/>
                      <a:pt x="0" y="2139698"/>
                    </a:cubicBezTo>
                    <a:lnTo>
                      <a:pt x="0" y="29250"/>
                    </a:lnTo>
                    <a:cubicBezTo>
                      <a:pt x="0" y="21492"/>
                      <a:pt x="3082" y="14053"/>
                      <a:pt x="8567" y="8567"/>
                    </a:cubicBezTo>
                    <a:cubicBezTo>
                      <a:pt x="14053" y="3082"/>
                      <a:pt x="21492" y="0"/>
                      <a:pt x="29250" y="0"/>
                    </a:cubicBezTo>
                    <a:close/>
                  </a:path>
                </a:pathLst>
              </a:custGeom>
              <a:gradFill rotWithShape="true">
                <a:gsLst>
                  <a:gs pos="0">
                    <a:srgbClr val="000F9B">
                      <a:alpha val="100000"/>
                    </a:srgbClr>
                  </a:gs>
                  <a:gs pos="50000">
                    <a:srgbClr val="EB0000">
                      <a:alpha val="100000"/>
                    </a:srgbClr>
                  </a:gs>
                  <a:gs pos="100000">
                    <a:srgbClr val="A000EB">
                      <a:alpha val="100000"/>
                    </a:srgbClr>
                  </a:gs>
                </a:gsLst>
                <a:path path="circle">
                  <a:fillToRect l="0" r="100000" t="0" b="100000"/>
                </a:path>
                <a:tileRect r="0" l="-100000" b="0" t="-100000"/>
              </a:gradFill>
            </p:spPr>
          </p:sp>
          <p:sp>
            <p:nvSpPr>
              <p:cNvPr name="TextBox 6" id="6"/>
              <p:cNvSpPr txBox="true"/>
              <p:nvPr/>
            </p:nvSpPr>
            <p:spPr>
              <a:xfrm>
                <a:off x="0" y="-66675"/>
                <a:ext cx="2927836" cy="2235623"/>
              </a:xfrm>
              <a:prstGeom prst="rect">
                <a:avLst/>
              </a:prstGeom>
            </p:spPr>
            <p:txBody>
              <a:bodyPr anchor="ctr" rtlCol="false" tIns="50800" lIns="50800" bIns="50800" rIns="50800"/>
              <a:lstStyle/>
              <a:p>
                <a:pPr algn="ctr">
                  <a:lnSpc>
                    <a:spcPts val="3151"/>
                  </a:lnSpc>
                </a:pPr>
              </a:p>
            </p:txBody>
          </p:sp>
        </p:grpSp>
        <p:sp>
          <p:nvSpPr>
            <p:cNvPr name="TextBox 7" id="7"/>
            <p:cNvSpPr txBox="true"/>
            <p:nvPr/>
          </p:nvSpPr>
          <p:spPr>
            <a:xfrm rot="0">
              <a:off x="915654" y="482690"/>
              <a:ext cx="12990861" cy="10497608"/>
            </a:xfrm>
            <a:prstGeom prst="rect">
              <a:avLst/>
            </a:prstGeom>
          </p:spPr>
          <p:txBody>
            <a:bodyPr anchor="t" rtlCol="false" tIns="0" lIns="0" bIns="0" rIns="0">
              <a:spAutoFit/>
            </a:bodyPr>
            <a:lstStyle/>
            <a:p>
              <a:pPr algn="just">
                <a:lnSpc>
                  <a:spcPts val="3499"/>
                </a:lnSpc>
              </a:pPr>
              <a:r>
                <a:rPr lang="en-US" sz="2499">
                  <a:solidFill>
                    <a:srgbClr val="FFFFFF"/>
                  </a:solidFill>
                  <a:latin typeface="Poppins"/>
                  <a:ea typeface="Poppins"/>
                  <a:cs typeface="Poppins"/>
                  <a:sym typeface="Poppins"/>
                </a:rPr>
                <a:t>Key advantages of XGBoost:</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High Accuracy:</a:t>
              </a:r>
              <a:r>
                <a:rPr lang="en-US" sz="2499">
                  <a:solidFill>
                    <a:srgbClr val="FFFFFF"/>
                  </a:solidFill>
                  <a:latin typeface="Poppins"/>
                  <a:ea typeface="Poppins"/>
                  <a:cs typeface="Poppins"/>
                  <a:sym typeface="Poppins"/>
                </a:rPr>
                <a:t> XGBoost consistently achieves high predictive accuracy, often outperforming other algorithms in various machine learning tasks. </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Scalability</a:t>
              </a:r>
              <a:r>
                <a:rPr lang="en-US" sz="2499">
                  <a:solidFill>
                    <a:srgbClr val="FFFFFF"/>
                  </a:solidFill>
                  <a:latin typeface="Poppins"/>
                  <a:ea typeface="Poppins"/>
                  <a:cs typeface="Poppins"/>
                  <a:sym typeface="Poppins"/>
                </a:rPr>
                <a:t>: XGBoost is designed for large datasets and can handle millions or billions of instances and features efficiently. </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Flexibility</a:t>
              </a:r>
              <a:r>
                <a:rPr lang="en-US" sz="2499">
                  <a:solidFill>
                    <a:srgbClr val="FFFFFF"/>
                  </a:solidFill>
                  <a:latin typeface="Poppins"/>
                  <a:ea typeface="Poppins"/>
                  <a:cs typeface="Poppins"/>
                  <a:sym typeface="Poppins"/>
                </a:rPr>
                <a:t>: XGBoost can be used for both classification and regression tasks, and it can handle various data types, including numerical, categorical, and missing values. </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Regularization</a:t>
              </a:r>
              <a:r>
                <a:rPr lang="en-US" sz="2499">
                  <a:solidFill>
                    <a:srgbClr val="FFFFFF"/>
                  </a:solidFill>
                  <a:latin typeface="Poppins"/>
                  <a:ea typeface="Poppins"/>
                  <a:cs typeface="Poppins"/>
                  <a:sym typeface="Poppins"/>
                </a:rPr>
                <a:t>: XGBoost includes built-in L1 and L2 regularization techniques to prevent overfitting and improve generalization. </a:t>
              </a:r>
            </a:p>
            <a:p>
              <a:pPr algn="just" marL="539749" indent="-269875" lvl="1">
                <a:lnSpc>
                  <a:spcPts val="3499"/>
                </a:lnSpc>
                <a:buFont typeface="Arial"/>
                <a:buChar char="•"/>
              </a:pPr>
              <a:r>
                <a:rPr lang="en-US" b="true" sz="2499">
                  <a:solidFill>
                    <a:srgbClr val="FFFFFF"/>
                  </a:solidFill>
                  <a:latin typeface="Poppins Bold"/>
                  <a:ea typeface="Poppins Bold"/>
                  <a:cs typeface="Poppins Bold"/>
                  <a:sym typeface="Poppins Bold"/>
                </a:rPr>
                <a:t>Feature Importance:</a:t>
              </a:r>
              <a:r>
                <a:rPr lang="en-US" sz="2499">
                  <a:solidFill>
                    <a:srgbClr val="FFFFFF"/>
                  </a:solidFill>
                  <a:latin typeface="Poppins"/>
                  <a:ea typeface="Poppins"/>
                  <a:cs typeface="Poppins"/>
                  <a:sym typeface="Poppins"/>
                </a:rPr>
                <a:t> XGBoost provides feature importance scores, allowing users to identify the most influential features in their data. </a:t>
              </a:r>
            </a:p>
            <a:p>
              <a:pPr algn="just">
                <a:lnSpc>
                  <a:spcPts val="3499"/>
                </a:lnSpc>
              </a:pPr>
            </a:p>
          </p:txBody>
        </p:sp>
      </p:grpSp>
      <p:grpSp>
        <p:nvGrpSpPr>
          <p:cNvPr name="Group 8" id="8"/>
          <p:cNvGrpSpPr/>
          <p:nvPr/>
        </p:nvGrpSpPr>
        <p:grpSpPr>
          <a:xfrm rot="0">
            <a:off x="808699" y="2055182"/>
            <a:ext cx="5075842" cy="4075229"/>
            <a:chOff x="0" y="0"/>
            <a:chExt cx="6767790" cy="5433639"/>
          </a:xfrm>
        </p:grpSpPr>
        <p:grpSp>
          <p:nvGrpSpPr>
            <p:cNvPr name="Group 9" id="9"/>
            <p:cNvGrpSpPr/>
            <p:nvPr/>
          </p:nvGrpSpPr>
          <p:grpSpPr>
            <a:xfrm rot="0">
              <a:off x="0" y="0"/>
              <a:ext cx="6767790" cy="5433639"/>
              <a:chOff x="0" y="0"/>
              <a:chExt cx="1336847" cy="1073311"/>
            </a:xfrm>
          </p:grpSpPr>
          <p:sp>
            <p:nvSpPr>
              <p:cNvPr name="Freeform 10" id="10"/>
              <p:cNvSpPr/>
              <p:nvPr/>
            </p:nvSpPr>
            <p:spPr>
              <a:xfrm flipH="false" flipV="false" rot="0">
                <a:off x="0" y="0"/>
                <a:ext cx="1336847" cy="1073311"/>
              </a:xfrm>
              <a:custGeom>
                <a:avLst/>
                <a:gdLst/>
                <a:ahLst/>
                <a:cxnLst/>
                <a:rect r="r" b="b" t="t" l="l"/>
                <a:pathLst>
                  <a:path h="1073311" w="1336847">
                    <a:moveTo>
                      <a:pt x="85414" y="0"/>
                    </a:moveTo>
                    <a:lnTo>
                      <a:pt x="1251433" y="0"/>
                    </a:lnTo>
                    <a:cubicBezTo>
                      <a:pt x="1274087" y="0"/>
                      <a:pt x="1295812" y="8999"/>
                      <a:pt x="1311830" y="25017"/>
                    </a:cubicBezTo>
                    <a:cubicBezTo>
                      <a:pt x="1327848" y="41035"/>
                      <a:pt x="1336847" y="62761"/>
                      <a:pt x="1336847" y="85414"/>
                    </a:cubicBezTo>
                    <a:lnTo>
                      <a:pt x="1336847" y="987898"/>
                    </a:lnTo>
                    <a:cubicBezTo>
                      <a:pt x="1336847" y="1010551"/>
                      <a:pt x="1327848" y="1032276"/>
                      <a:pt x="1311830" y="1048294"/>
                    </a:cubicBezTo>
                    <a:cubicBezTo>
                      <a:pt x="1295812" y="1064312"/>
                      <a:pt x="1274087" y="1073311"/>
                      <a:pt x="1251433" y="1073311"/>
                    </a:cubicBezTo>
                    <a:lnTo>
                      <a:pt x="85414" y="1073311"/>
                    </a:lnTo>
                    <a:cubicBezTo>
                      <a:pt x="62761" y="1073311"/>
                      <a:pt x="41035" y="1064312"/>
                      <a:pt x="25017" y="1048294"/>
                    </a:cubicBezTo>
                    <a:cubicBezTo>
                      <a:pt x="8999" y="1032276"/>
                      <a:pt x="0" y="1010551"/>
                      <a:pt x="0" y="987898"/>
                    </a:cubicBezTo>
                    <a:lnTo>
                      <a:pt x="0" y="85414"/>
                    </a:lnTo>
                    <a:cubicBezTo>
                      <a:pt x="0" y="62761"/>
                      <a:pt x="8999" y="41035"/>
                      <a:pt x="25017" y="25017"/>
                    </a:cubicBezTo>
                    <a:cubicBezTo>
                      <a:pt x="41035" y="8999"/>
                      <a:pt x="62761" y="0"/>
                      <a:pt x="85414" y="0"/>
                    </a:cubicBezTo>
                    <a:close/>
                  </a:path>
                </a:pathLst>
              </a:custGeom>
              <a:gradFill rotWithShape="true">
                <a:gsLst>
                  <a:gs pos="0">
                    <a:srgbClr val="000000">
                      <a:alpha val="78000"/>
                    </a:srgbClr>
                  </a:gs>
                  <a:gs pos="100000">
                    <a:srgbClr val="DDDDDD">
                      <a:alpha val="14820"/>
                    </a:srgbClr>
                  </a:gs>
                </a:gsLst>
                <a:lin ang="2700000"/>
              </a:gradFill>
            </p:spPr>
          </p:sp>
          <p:sp>
            <p:nvSpPr>
              <p:cNvPr name="TextBox 11" id="11"/>
              <p:cNvSpPr txBox="true"/>
              <p:nvPr/>
            </p:nvSpPr>
            <p:spPr>
              <a:xfrm>
                <a:off x="0" y="-66675"/>
                <a:ext cx="1336847" cy="1139986"/>
              </a:xfrm>
              <a:prstGeom prst="rect">
                <a:avLst/>
              </a:prstGeom>
            </p:spPr>
            <p:txBody>
              <a:bodyPr anchor="ctr" rtlCol="false" tIns="50800" lIns="50800" bIns="50800" rIns="50800"/>
              <a:lstStyle/>
              <a:p>
                <a:pPr algn="ctr">
                  <a:lnSpc>
                    <a:spcPts val="3151"/>
                  </a:lnSpc>
                </a:pPr>
              </a:p>
            </p:txBody>
          </p:sp>
        </p:grpSp>
        <p:sp>
          <p:nvSpPr>
            <p:cNvPr name="TextBox 12" id="12"/>
            <p:cNvSpPr txBox="true"/>
            <p:nvPr/>
          </p:nvSpPr>
          <p:spPr>
            <a:xfrm rot="0">
              <a:off x="761689" y="804266"/>
              <a:ext cx="5244412" cy="3872732"/>
            </a:xfrm>
            <a:prstGeom prst="rect">
              <a:avLst/>
            </a:prstGeom>
          </p:spPr>
          <p:txBody>
            <a:bodyPr anchor="t" rtlCol="false" tIns="0" lIns="0" bIns="0" rIns="0">
              <a:spAutoFit/>
            </a:bodyPr>
            <a:lstStyle/>
            <a:p>
              <a:pPr algn="just">
                <a:lnSpc>
                  <a:spcPts val="7326"/>
                </a:lnSpc>
              </a:pPr>
              <a:r>
                <a:rPr lang="en-US" b="true" sz="7182" spc="-323">
                  <a:solidFill>
                    <a:srgbClr val="FFFFFF"/>
                  </a:solidFill>
                  <a:latin typeface="Telegraf Bold"/>
                  <a:ea typeface="Telegraf Bold"/>
                  <a:cs typeface="Telegraf Bold"/>
                  <a:sym typeface="Telegraf Bold"/>
                </a:rPr>
                <a:t>Benefits of XGBoost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19952" y="3865549"/>
            <a:ext cx="16648096" cy="2555903"/>
            <a:chOff x="0" y="0"/>
            <a:chExt cx="4384684" cy="673160"/>
          </a:xfrm>
        </p:grpSpPr>
        <p:sp>
          <p:nvSpPr>
            <p:cNvPr name="Freeform 7" id="7"/>
            <p:cNvSpPr/>
            <p:nvPr/>
          </p:nvSpPr>
          <p:spPr>
            <a:xfrm flipH="false" flipV="false" rot="0">
              <a:off x="0" y="0"/>
              <a:ext cx="4384684" cy="673160"/>
            </a:xfrm>
            <a:custGeom>
              <a:avLst/>
              <a:gdLst/>
              <a:ahLst/>
              <a:cxnLst/>
              <a:rect r="r" b="b" t="t" l="l"/>
              <a:pathLst>
                <a:path h="673160" w="4384684">
                  <a:moveTo>
                    <a:pt x="26042" y="0"/>
                  </a:moveTo>
                  <a:lnTo>
                    <a:pt x="4358642" y="0"/>
                  </a:lnTo>
                  <a:cubicBezTo>
                    <a:pt x="4365548" y="0"/>
                    <a:pt x="4372172" y="2744"/>
                    <a:pt x="4377056" y="7627"/>
                  </a:cubicBezTo>
                  <a:cubicBezTo>
                    <a:pt x="4381940" y="12511"/>
                    <a:pt x="4384684" y="19135"/>
                    <a:pt x="4384684" y="26042"/>
                  </a:cubicBezTo>
                  <a:lnTo>
                    <a:pt x="4384684" y="647118"/>
                  </a:lnTo>
                  <a:cubicBezTo>
                    <a:pt x="4384684" y="654024"/>
                    <a:pt x="4381940" y="660648"/>
                    <a:pt x="4377056" y="665532"/>
                  </a:cubicBezTo>
                  <a:cubicBezTo>
                    <a:pt x="4372172" y="670416"/>
                    <a:pt x="4365548" y="673160"/>
                    <a:pt x="4358642" y="673160"/>
                  </a:cubicBezTo>
                  <a:lnTo>
                    <a:pt x="26042" y="673160"/>
                  </a:lnTo>
                  <a:cubicBezTo>
                    <a:pt x="19135" y="673160"/>
                    <a:pt x="12511" y="670416"/>
                    <a:pt x="7627" y="665532"/>
                  </a:cubicBezTo>
                  <a:cubicBezTo>
                    <a:pt x="2744" y="660648"/>
                    <a:pt x="0" y="654024"/>
                    <a:pt x="0" y="647118"/>
                  </a:cubicBezTo>
                  <a:lnTo>
                    <a:pt x="0" y="26042"/>
                  </a:lnTo>
                  <a:cubicBezTo>
                    <a:pt x="0" y="19135"/>
                    <a:pt x="2744" y="12511"/>
                    <a:pt x="7627" y="7627"/>
                  </a:cubicBezTo>
                  <a:cubicBezTo>
                    <a:pt x="12511" y="2744"/>
                    <a:pt x="19135" y="0"/>
                    <a:pt x="26042" y="0"/>
                  </a:cubicBezTo>
                  <a:close/>
                </a:path>
              </a:pathLst>
            </a:custGeom>
            <a:solidFill>
              <a:srgbClr val="FFFFFF">
                <a:alpha val="21961"/>
              </a:srgbClr>
            </a:solidFill>
          </p:spPr>
        </p:sp>
        <p:sp>
          <p:nvSpPr>
            <p:cNvPr name="TextBox 8" id="8"/>
            <p:cNvSpPr txBox="true"/>
            <p:nvPr/>
          </p:nvSpPr>
          <p:spPr>
            <a:xfrm>
              <a:off x="0" y="-38100"/>
              <a:ext cx="4384684" cy="711260"/>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803986" y="4613720"/>
            <a:ext cx="16648096" cy="1107185"/>
          </a:xfrm>
          <a:prstGeom prst="rect">
            <a:avLst/>
          </a:prstGeom>
        </p:spPr>
        <p:txBody>
          <a:bodyPr anchor="t" rtlCol="false" tIns="0" lIns="0" bIns="0" rIns="0">
            <a:spAutoFit/>
          </a:bodyPr>
          <a:lstStyle/>
          <a:p>
            <a:pPr algn="ctr">
              <a:lnSpc>
                <a:spcPts val="7751"/>
              </a:lnSpc>
            </a:pPr>
            <a:r>
              <a:rPr lang="en-US" b="true" sz="7599" spc="-341">
                <a:solidFill>
                  <a:srgbClr val="FFFFFF"/>
                </a:solidFill>
                <a:latin typeface="Telegraf Bold"/>
                <a:ea typeface="Telegraf Bold"/>
                <a:cs typeface="Telegraf Bold"/>
                <a:sym typeface="Telegraf Bold"/>
              </a:rPr>
              <a:t>Questions and Answers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09033D">
                <a:alpha val="100000"/>
              </a:srgbClr>
            </a:gs>
          </a:gsLst>
          <a:path path="circle">
            <a:fillToRect l="0" r="100000" t="0" b="100000"/>
          </a:path>
          <a:tileRect r="0" l="-100000" b="0" t="-100000"/>
        </a:gradFill>
      </p:bgPr>
    </p:bg>
    <p:spTree>
      <p:nvGrpSpPr>
        <p:cNvPr id="1" name=""/>
        <p:cNvGrpSpPr/>
        <p:nvPr/>
      </p:nvGrpSpPr>
      <p:grpSpPr>
        <a:xfrm>
          <a:off x="0" y="0"/>
          <a:ext cx="0" cy="0"/>
          <a:chOff x="0" y="0"/>
          <a:chExt cx="0" cy="0"/>
        </a:xfrm>
      </p:grpSpPr>
      <p:grpSp>
        <p:nvGrpSpPr>
          <p:cNvPr name="Group 2" id="2"/>
          <p:cNvGrpSpPr/>
          <p:nvPr/>
        </p:nvGrpSpPr>
        <p:grpSpPr>
          <a:xfrm rot="0">
            <a:off x="296111" y="349538"/>
            <a:ext cx="17695777" cy="9587924"/>
            <a:chOff x="0" y="0"/>
            <a:chExt cx="4660616" cy="2525215"/>
          </a:xfrm>
        </p:grpSpPr>
        <p:sp>
          <p:nvSpPr>
            <p:cNvPr name="Freeform 3" id="3"/>
            <p:cNvSpPr/>
            <p:nvPr/>
          </p:nvSpPr>
          <p:spPr>
            <a:xfrm flipH="false" flipV="false" rot="0">
              <a:off x="0" y="0"/>
              <a:ext cx="4660616" cy="2525215"/>
            </a:xfrm>
            <a:custGeom>
              <a:avLst/>
              <a:gdLst/>
              <a:ahLst/>
              <a:cxnLst/>
              <a:rect r="r" b="b" t="t" l="l"/>
              <a:pathLst>
                <a:path h="2525215" w="4660616">
                  <a:moveTo>
                    <a:pt x="24500" y="0"/>
                  </a:moveTo>
                  <a:lnTo>
                    <a:pt x="4636116" y="0"/>
                  </a:lnTo>
                  <a:cubicBezTo>
                    <a:pt x="4649647" y="0"/>
                    <a:pt x="4660616" y="10969"/>
                    <a:pt x="4660616" y="24500"/>
                  </a:cubicBezTo>
                  <a:lnTo>
                    <a:pt x="4660616" y="2500715"/>
                  </a:lnTo>
                  <a:cubicBezTo>
                    <a:pt x="4660616" y="2507212"/>
                    <a:pt x="4658035" y="2513444"/>
                    <a:pt x="4653440" y="2518039"/>
                  </a:cubicBezTo>
                  <a:cubicBezTo>
                    <a:pt x="4648846" y="2522633"/>
                    <a:pt x="4642614" y="2525215"/>
                    <a:pt x="4636116" y="2525215"/>
                  </a:cubicBezTo>
                  <a:lnTo>
                    <a:pt x="24500" y="2525215"/>
                  </a:lnTo>
                  <a:cubicBezTo>
                    <a:pt x="10969" y="2525215"/>
                    <a:pt x="0" y="2514246"/>
                    <a:pt x="0" y="2500715"/>
                  </a:cubicBezTo>
                  <a:lnTo>
                    <a:pt x="0" y="24500"/>
                  </a:lnTo>
                  <a:cubicBezTo>
                    <a:pt x="0" y="10969"/>
                    <a:pt x="10969" y="0"/>
                    <a:pt x="24500" y="0"/>
                  </a:cubicBezTo>
                  <a:close/>
                </a:path>
              </a:pathLst>
            </a:custGeom>
            <a:solidFill>
              <a:srgbClr val="FFFFFF">
                <a:alpha val="21961"/>
              </a:srgbClr>
            </a:solidFill>
          </p:spPr>
        </p:sp>
        <p:sp>
          <p:nvSpPr>
            <p:cNvPr name="TextBox 4" id="4"/>
            <p:cNvSpPr txBox="true"/>
            <p:nvPr/>
          </p:nvSpPr>
          <p:spPr>
            <a:xfrm>
              <a:off x="0" y="-38100"/>
              <a:ext cx="4660616" cy="2563315"/>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03986" y="803986"/>
            <a:ext cx="449429" cy="449429"/>
          </a:xfrm>
          <a:custGeom>
            <a:avLst/>
            <a:gdLst/>
            <a:ahLst/>
            <a:cxnLst/>
            <a:rect r="r" b="b" t="t" l="l"/>
            <a:pathLst>
              <a:path h="449429" w="449429">
                <a:moveTo>
                  <a:pt x="0" y="0"/>
                </a:moveTo>
                <a:lnTo>
                  <a:pt x="449428" y="0"/>
                </a:lnTo>
                <a:lnTo>
                  <a:pt x="449428" y="449428"/>
                </a:lnTo>
                <a:lnTo>
                  <a:pt x="0" y="4494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054412" y="3687473"/>
            <a:ext cx="12179177" cy="2502478"/>
          </a:xfrm>
          <a:prstGeom prst="rect">
            <a:avLst/>
          </a:prstGeom>
        </p:spPr>
        <p:txBody>
          <a:bodyPr anchor="t" rtlCol="false" tIns="0" lIns="0" bIns="0" rIns="0">
            <a:spAutoFit/>
          </a:bodyPr>
          <a:lstStyle/>
          <a:p>
            <a:pPr algn="ctr">
              <a:lnSpc>
                <a:spcPts val="19302"/>
              </a:lnSpc>
              <a:spcBef>
                <a:spcPct val="0"/>
              </a:spcBef>
            </a:pPr>
            <a:r>
              <a:rPr lang="en-US" b="true" sz="13787" spc="-620">
                <a:solidFill>
                  <a:srgbClr val="FFFFFF"/>
                </a:solidFill>
                <a:latin typeface="Telegraf Bold"/>
                <a:ea typeface="Telegraf Bold"/>
                <a:cs typeface="Telegraf Bold"/>
                <a:sym typeface="Telegraf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DAGl5ROzDdg</dc:identifier>
  <dcterms:modified xsi:type="dcterms:W3CDTF">2011-08-01T06:04:30Z</dcterms:modified>
  <cp:revision>1</cp:revision>
  <dc:title>Black Modern Gradient Programmer Presentation</dc:title>
</cp:coreProperties>
</file>